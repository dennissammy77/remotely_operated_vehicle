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embeddedFontLst>
    <p:embeddedFont>
      <p:font typeface="Comfortaa" panose="020B0604020202020204" charset="0"/>
      <p:regular r:id="rId38"/>
      <p:bold r:id="rId39"/>
    </p:embeddedFont>
    <p:embeddedFont>
      <p:font typeface="Georgia" panose="02040502050405020303" pitchFamily="18" charset="0"/>
      <p:regular r:id="rId40"/>
      <p:bold r:id="rId41"/>
      <p:italic r:id="rId42"/>
      <p:boldItalic r:id="rId43"/>
    </p:embeddedFont>
    <p:embeddedFont>
      <p:font typeface="Trebuchet MS" panose="020B060302020202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466D8C-6F8C-410A-86CD-92F3A03C2370}">
  <a:tblStyle styleId="{E2466D8C-6F8C-410A-86CD-92F3A03C237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C7FF19C-AFE5-40EB-A433-F70B18BB095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8976688-196A-4A89-BB7A-4BE9F574FAF7}" styleName="Table_2">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72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a16dd48ff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a16dd48ff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 the shipping industry due to safety measures, ships are </a:t>
            </a:r>
            <a:r>
              <a:rPr lang="en" sz="1200" b="1">
                <a:solidFill>
                  <a:schemeClr val="dk1"/>
                </a:solidFill>
                <a:latin typeface="Times New Roman"/>
                <a:ea typeface="Times New Roman"/>
                <a:cs typeface="Times New Roman"/>
                <a:sym typeface="Times New Roman"/>
              </a:rPr>
              <a:t>required to be inspected</a:t>
            </a:r>
            <a:r>
              <a:rPr lang="en" sz="1200">
                <a:solidFill>
                  <a:schemeClr val="dk1"/>
                </a:solidFill>
                <a:latin typeface="Times New Roman"/>
                <a:ea typeface="Times New Roman"/>
                <a:cs typeface="Times New Roman"/>
                <a:sym typeface="Times New Roman"/>
              </a:rPr>
              <a:t> over a given period of time.</a:t>
            </a:r>
            <a:endParaRPr sz="1200">
              <a:solidFill>
                <a:schemeClr val="dk1"/>
              </a:solidFill>
              <a:latin typeface="Times New Roman"/>
              <a:ea typeface="Times New Roman"/>
              <a:cs typeface="Times New Roman"/>
              <a:sym typeface="Times New Roman"/>
            </a:endParaRPr>
          </a:p>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hull is exposed to problems such as </a:t>
            </a:r>
            <a:r>
              <a:rPr lang="en" sz="1200" b="1">
                <a:solidFill>
                  <a:schemeClr val="dk1"/>
                </a:solidFill>
                <a:latin typeface="Times New Roman"/>
                <a:ea typeface="Times New Roman"/>
                <a:cs typeface="Times New Roman"/>
                <a:sym typeface="Times New Roman"/>
              </a:rPr>
              <a:t>biofouling</a:t>
            </a:r>
            <a:r>
              <a:rPr lang="en" sz="1200">
                <a:solidFill>
                  <a:schemeClr val="dk1"/>
                </a:solidFill>
                <a:latin typeface="Times New Roman"/>
                <a:ea typeface="Times New Roman"/>
                <a:cs typeface="Times New Roman"/>
                <a:sym typeface="Times New Roman"/>
              </a:rPr>
              <a:t> and </a:t>
            </a:r>
            <a:r>
              <a:rPr lang="en" sz="1200" b="1">
                <a:solidFill>
                  <a:schemeClr val="dk1"/>
                </a:solidFill>
                <a:latin typeface="Times New Roman"/>
                <a:ea typeface="Times New Roman"/>
                <a:cs typeface="Times New Roman"/>
                <a:sym typeface="Times New Roman"/>
              </a:rPr>
              <a:t>corrosion</a:t>
            </a:r>
            <a:r>
              <a:rPr lang="en" sz="1200">
                <a:solidFill>
                  <a:schemeClr val="dk1"/>
                </a:solidFill>
                <a:latin typeface="Times New Roman"/>
                <a:ea typeface="Times New Roman"/>
                <a:cs typeface="Times New Roman"/>
                <a:sym typeface="Times New Roman"/>
              </a:rPr>
              <a:t> making its inspection vital and should be conducted regularly.</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a16dd48ff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a16dd48ff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rgbClr val="1F1F1F"/>
                </a:solidFill>
                <a:latin typeface="Georgia"/>
                <a:ea typeface="Georgia"/>
                <a:cs typeface="Georgia"/>
                <a:sym typeface="Georgia"/>
              </a:rPr>
              <a:t>The growth of the shipping industry increases the probability of maritime accidents, which pose a threat to human lives, economic property and marine pollution. One of the major causes of serious maritime accidents is structural failure (Dong et al., 2022) (see Fig. 1 for two examples), typically resulting from the effects of time-dependent (gradual) deterioration mechanisms, such as structural overloading, errors in ship design, the utilization of low-quality materials, inferior alignments or welding, coating breakdown and vibrations induced by hydrodynamic loads or the machinery.</a:t>
            </a:r>
            <a:endParaRPr sz="1200">
              <a:solidFill>
                <a:srgbClr val="1F1F1F"/>
              </a:solidFill>
              <a:latin typeface="Georgia"/>
              <a:ea typeface="Georgia"/>
              <a:cs typeface="Georgia"/>
              <a:sym typeface="Georgia"/>
            </a:endParaRPr>
          </a:p>
          <a:p>
            <a:pPr marL="0" lvl="0" indent="0" algn="l" rtl="0">
              <a:lnSpc>
                <a:spcPct val="115000"/>
              </a:lnSpc>
              <a:spcBef>
                <a:spcPts val="1200"/>
              </a:spcBef>
              <a:spcAft>
                <a:spcPts val="0"/>
              </a:spcAft>
              <a:buClr>
                <a:schemeClr val="dk1"/>
              </a:buClr>
              <a:buSzPts val="1100"/>
              <a:buFont typeface="Arial"/>
              <a:buNone/>
            </a:pPr>
            <a:r>
              <a:rPr lang="en" sz="1200">
                <a:solidFill>
                  <a:srgbClr val="1F1F1F"/>
                </a:solidFill>
                <a:latin typeface="Georgia"/>
                <a:ea typeface="Georgia"/>
                <a:cs typeface="Georgia"/>
                <a:sym typeface="Georgia"/>
              </a:rPr>
              <a:t>To avoid (or at least reduce) the occurrences of these factors, ships are built in accordance with stringent standards of safety and pollution prevention. In addition, ships have to undergo detailed inspections during both the building and service periods (Nair et al., 2017). In this case, timely ship maintenance and repairs can be arranged based on the identified defects and faults. As a result, hull structures can be kept in a satisfactory condition and the risk of the occurrence of structural failure is reduced (Davies et al., 2021).</a:t>
            </a:r>
            <a:endParaRPr sz="1200">
              <a:solidFill>
                <a:srgbClr val="1F1F1F"/>
              </a:solidFill>
              <a:latin typeface="Georgia"/>
              <a:ea typeface="Georgia"/>
              <a:cs typeface="Georgia"/>
              <a:sym typeface="Georgia"/>
            </a:endParaRPr>
          </a:p>
          <a:p>
            <a:pPr marL="0" lvl="0" indent="0" algn="just" rtl="0">
              <a:lnSpc>
                <a:spcPct val="150000"/>
              </a:lnSpc>
              <a:spcBef>
                <a:spcPts val="120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a16dd48ffd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a16dd48ffd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a1e2915bb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a1e2915bb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 the shipping industry due to safety measures, ships are </a:t>
            </a:r>
            <a:r>
              <a:rPr lang="en" sz="1200" b="1">
                <a:solidFill>
                  <a:schemeClr val="dk1"/>
                </a:solidFill>
                <a:latin typeface="Times New Roman"/>
                <a:ea typeface="Times New Roman"/>
                <a:cs typeface="Times New Roman"/>
                <a:sym typeface="Times New Roman"/>
              </a:rPr>
              <a:t>required to be inspected</a:t>
            </a:r>
            <a:r>
              <a:rPr lang="en" sz="1200">
                <a:solidFill>
                  <a:schemeClr val="dk1"/>
                </a:solidFill>
                <a:latin typeface="Times New Roman"/>
                <a:ea typeface="Times New Roman"/>
                <a:cs typeface="Times New Roman"/>
                <a:sym typeface="Times New Roman"/>
              </a:rPr>
              <a:t> over a given period of time.</a:t>
            </a:r>
            <a:endParaRPr sz="1200">
              <a:solidFill>
                <a:schemeClr val="dk1"/>
              </a:solidFill>
              <a:latin typeface="Times New Roman"/>
              <a:ea typeface="Times New Roman"/>
              <a:cs typeface="Times New Roman"/>
              <a:sym typeface="Times New Roman"/>
            </a:endParaRPr>
          </a:p>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hull is exposed to problems such as </a:t>
            </a:r>
            <a:r>
              <a:rPr lang="en" sz="1200" b="1">
                <a:solidFill>
                  <a:schemeClr val="dk1"/>
                </a:solidFill>
                <a:latin typeface="Times New Roman"/>
                <a:ea typeface="Times New Roman"/>
                <a:cs typeface="Times New Roman"/>
                <a:sym typeface="Times New Roman"/>
              </a:rPr>
              <a:t>biofouling</a:t>
            </a:r>
            <a:r>
              <a:rPr lang="en" sz="1200">
                <a:solidFill>
                  <a:schemeClr val="dk1"/>
                </a:solidFill>
                <a:latin typeface="Times New Roman"/>
                <a:ea typeface="Times New Roman"/>
                <a:cs typeface="Times New Roman"/>
                <a:sym typeface="Times New Roman"/>
              </a:rPr>
              <a:t> and </a:t>
            </a:r>
            <a:r>
              <a:rPr lang="en" sz="1200" b="1">
                <a:solidFill>
                  <a:schemeClr val="dk1"/>
                </a:solidFill>
                <a:latin typeface="Times New Roman"/>
                <a:ea typeface="Times New Roman"/>
                <a:cs typeface="Times New Roman"/>
                <a:sym typeface="Times New Roman"/>
              </a:rPr>
              <a:t>corrosion</a:t>
            </a:r>
            <a:r>
              <a:rPr lang="en" sz="1200">
                <a:solidFill>
                  <a:schemeClr val="dk1"/>
                </a:solidFill>
                <a:latin typeface="Times New Roman"/>
                <a:ea typeface="Times New Roman"/>
                <a:cs typeface="Times New Roman"/>
                <a:sym typeface="Times New Roman"/>
              </a:rPr>
              <a:t> making its inspection vital and should be conducted regularly.</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a16dd48ffd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a16dd48ff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a16dd48ffd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a16dd48ffd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 the shipping industry due to safety measures, ships are </a:t>
            </a:r>
            <a:r>
              <a:rPr lang="en" sz="1200" b="1">
                <a:solidFill>
                  <a:schemeClr val="dk1"/>
                </a:solidFill>
                <a:latin typeface="Times New Roman"/>
                <a:ea typeface="Times New Roman"/>
                <a:cs typeface="Times New Roman"/>
                <a:sym typeface="Times New Roman"/>
              </a:rPr>
              <a:t>required to be inspected</a:t>
            </a:r>
            <a:r>
              <a:rPr lang="en" sz="1200">
                <a:solidFill>
                  <a:schemeClr val="dk1"/>
                </a:solidFill>
                <a:latin typeface="Times New Roman"/>
                <a:ea typeface="Times New Roman"/>
                <a:cs typeface="Times New Roman"/>
                <a:sym typeface="Times New Roman"/>
              </a:rPr>
              <a:t> over a given period of time.</a:t>
            </a:r>
            <a:endParaRPr sz="1200">
              <a:solidFill>
                <a:schemeClr val="dk1"/>
              </a:solidFill>
              <a:latin typeface="Times New Roman"/>
              <a:ea typeface="Times New Roman"/>
              <a:cs typeface="Times New Roman"/>
              <a:sym typeface="Times New Roman"/>
            </a:endParaRPr>
          </a:p>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hull is exposed to problems such as </a:t>
            </a:r>
            <a:r>
              <a:rPr lang="en" sz="1200" b="1">
                <a:solidFill>
                  <a:schemeClr val="dk1"/>
                </a:solidFill>
                <a:latin typeface="Times New Roman"/>
                <a:ea typeface="Times New Roman"/>
                <a:cs typeface="Times New Roman"/>
                <a:sym typeface="Times New Roman"/>
              </a:rPr>
              <a:t>biofouling</a:t>
            </a:r>
            <a:r>
              <a:rPr lang="en" sz="1200">
                <a:solidFill>
                  <a:schemeClr val="dk1"/>
                </a:solidFill>
                <a:latin typeface="Times New Roman"/>
                <a:ea typeface="Times New Roman"/>
                <a:cs typeface="Times New Roman"/>
                <a:sym typeface="Times New Roman"/>
              </a:rPr>
              <a:t> and </a:t>
            </a:r>
            <a:r>
              <a:rPr lang="en" sz="1200" b="1">
                <a:solidFill>
                  <a:schemeClr val="dk1"/>
                </a:solidFill>
                <a:latin typeface="Times New Roman"/>
                <a:ea typeface="Times New Roman"/>
                <a:cs typeface="Times New Roman"/>
                <a:sym typeface="Times New Roman"/>
              </a:rPr>
              <a:t>corrosion</a:t>
            </a:r>
            <a:r>
              <a:rPr lang="en" sz="1200">
                <a:solidFill>
                  <a:schemeClr val="dk1"/>
                </a:solidFill>
                <a:latin typeface="Times New Roman"/>
                <a:ea typeface="Times New Roman"/>
                <a:cs typeface="Times New Roman"/>
                <a:sym typeface="Times New Roman"/>
              </a:rPr>
              <a:t> making its inspection vital and should be conducted regularly.</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a16dd48ffd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a16dd48ffd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 the shipping industry due to safety measures, ships are </a:t>
            </a:r>
            <a:r>
              <a:rPr lang="en" sz="1200" b="1">
                <a:solidFill>
                  <a:schemeClr val="dk1"/>
                </a:solidFill>
                <a:latin typeface="Times New Roman"/>
                <a:ea typeface="Times New Roman"/>
                <a:cs typeface="Times New Roman"/>
                <a:sym typeface="Times New Roman"/>
              </a:rPr>
              <a:t>required to be inspected</a:t>
            </a:r>
            <a:r>
              <a:rPr lang="en" sz="1200">
                <a:solidFill>
                  <a:schemeClr val="dk1"/>
                </a:solidFill>
                <a:latin typeface="Times New Roman"/>
                <a:ea typeface="Times New Roman"/>
                <a:cs typeface="Times New Roman"/>
                <a:sym typeface="Times New Roman"/>
              </a:rPr>
              <a:t> over a given period of time.</a:t>
            </a:r>
            <a:endParaRPr sz="1200">
              <a:solidFill>
                <a:schemeClr val="dk1"/>
              </a:solidFill>
              <a:latin typeface="Times New Roman"/>
              <a:ea typeface="Times New Roman"/>
              <a:cs typeface="Times New Roman"/>
              <a:sym typeface="Times New Roman"/>
            </a:endParaRPr>
          </a:p>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hull is exposed to problems such as </a:t>
            </a:r>
            <a:r>
              <a:rPr lang="en" sz="1200" b="1">
                <a:solidFill>
                  <a:schemeClr val="dk1"/>
                </a:solidFill>
                <a:latin typeface="Times New Roman"/>
                <a:ea typeface="Times New Roman"/>
                <a:cs typeface="Times New Roman"/>
                <a:sym typeface="Times New Roman"/>
              </a:rPr>
              <a:t>biofouling</a:t>
            </a:r>
            <a:r>
              <a:rPr lang="en" sz="1200">
                <a:solidFill>
                  <a:schemeClr val="dk1"/>
                </a:solidFill>
                <a:latin typeface="Times New Roman"/>
                <a:ea typeface="Times New Roman"/>
                <a:cs typeface="Times New Roman"/>
                <a:sym typeface="Times New Roman"/>
              </a:rPr>
              <a:t> and </a:t>
            </a:r>
            <a:r>
              <a:rPr lang="en" sz="1200" b="1">
                <a:solidFill>
                  <a:schemeClr val="dk1"/>
                </a:solidFill>
                <a:latin typeface="Times New Roman"/>
                <a:ea typeface="Times New Roman"/>
                <a:cs typeface="Times New Roman"/>
                <a:sym typeface="Times New Roman"/>
              </a:rPr>
              <a:t>corrosion</a:t>
            </a:r>
            <a:r>
              <a:rPr lang="en" sz="1200">
                <a:solidFill>
                  <a:schemeClr val="dk1"/>
                </a:solidFill>
                <a:latin typeface="Times New Roman"/>
                <a:ea typeface="Times New Roman"/>
                <a:cs typeface="Times New Roman"/>
                <a:sym typeface="Times New Roman"/>
              </a:rPr>
              <a:t> making its inspection vital and should be conducted regularly.</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a16dd48ffd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a16dd48ffd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a16dd48ffd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a16dd48ffd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a16dd48ffd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a16dd48ffd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a26778d63b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a26778d63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f10d4503c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f10d4503c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a26778d63b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a26778d63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a26778d63b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a26778d63b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a26cd3195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a26cd319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a16dd48ffd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a16dd48ffd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a16dd48ffd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a16dd48ffd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a16dd48ffd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a16dd48ffd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f10d4503c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f10d4503c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f10d4503cc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f10d4503cc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f10d4503cc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f10d4503c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f10d4503cc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f10d4503c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f10d4503cc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f10d4503cc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f10d4503cc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2f10d4503c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f10d4503cc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f10d4503cc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f10d4503cc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f10d4503c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f10d4503cc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f10d4503cc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f10d4503cc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f10d4503cc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a16dd48ffd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a16dd48ffd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1e2915bb3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1e2915bb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a1e2915bb3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a1e2915bb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a1e2915bb3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a1e2915bb3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8e8c109806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18e8c109806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f10d4503cc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2f10d4503cc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8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0"/>
              </a:spcBef>
              <a:spcAft>
                <a:spcPts val="0"/>
              </a:spcAft>
              <a:buClr>
                <a:schemeClr val="lt2"/>
              </a:buClr>
              <a:buSzPts val="1400"/>
              <a:buChar char="○"/>
              <a:defRPr>
                <a:solidFill>
                  <a:schemeClr val="lt2"/>
                </a:solidFill>
              </a:defRPr>
            </a:lvl2pPr>
            <a:lvl3pPr marL="1371600" lvl="2" indent="-317500">
              <a:lnSpc>
                <a:spcPct val="115000"/>
              </a:lnSpc>
              <a:spcBef>
                <a:spcPts val="0"/>
              </a:spcBef>
              <a:spcAft>
                <a:spcPts val="0"/>
              </a:spcAft>
              <a:buClr>
                <a:schemeClr val="lt2"/>
              </a:buClr>
              <a:buSzPts val="1400"/>
              <a:buChar char="■"/>
              <a:defRPr>
                <a:solidFill>
                  <a:schemeClr val="lt2"/>
                </a:solidFill>
              </a:defRPr>
            </a:lvl3pPr>
            <a:lvl4pPr marL="1828800" lvl="3" indent="-317500">
              <a:lnSpc>
                <a:spcPct val="115000"/>
              </a:lnSpc>
              <a:spcBef>
                <a:spcPts val="0"/>
              </a:spcBef>
              <a:spcAft>
                <a:spcPts val="0"/>
              </a:spcAft>
              <a:buClr>
                <a:schemeClr val="lt2"/>
              </a:buClr>
              <a:buSzPts val="1400"/>
              <a:buChar char="●"/>
              <a:defRPr>
                <a:solidFill>
                  <a:schemeClr val="lt2"/>
                </a:solidFill>
              </a:defRPr>
            </a:lvl4pPr>
            <a:lvl5pPr marL="2286000" lvl="4" indent="-317500">
              <a:lnSpc>
                <a:spcPct val="115000"/>
              </a:lnSpc>
              <a:spcBef>
                <a:spcPts val="0"/>
              </a:spcBef>
              <a:spcAft>
                <a:spcPts val="0"/>
              </a:spcAft>
              <a:buClr>
                <a:schemeClr val="lt2"/>
              </a:buClr>
              <a:buSzPts val="1400"/>
              <a:buChar char="○"/>
              <a:defRPr>
                <a:solidFill>
                  <a:schemeClr val="lt2"/>
                </a:solidFill>
              </a:defRPr>
            </a:lvl5pPr>
            <a:lvl6pPr marL="2743200" lvl="5" indent="-317500">
              <a:lnSpc>
                <a:spcPct val="115000"/>
              </a:lnSpc>
              <a:spcBef>
                <a:spcPts val="0"/>
              </a:spcBef>
              <a:spcAft>
                <a:spcPts val="0"/>
              </a:spcAft>
              <a:buClr>
                <a:schemeClr val="lt2"/>
              </a:buClr>
              <a:buSzPts val="1400"/>
              <a:buChar char="■"/>
              <a:defRPr>
                <a:solidFill>
                  <a:schemeClr val="lt2"/>
                </a:solidFill>
              </a:defRPr>
            </a:lvl6pPr>
            <a:lvl7pPr marL="3200400" lvl="6" indent="-317500">
              <a:lnSpc>
                <a:spcPct val="115000"/>
              </a:lnSpc>
              <a:spcBef>
                <a:spcPts val="0"/>
              </a:spcBef>
              <a:spcAft>
                <a:spcPts val="0"/>
              </a:spcAft>
              <a:buClr>
                <a:schemeClr val="lt2"/>
              </a:buClr>
              <a:buSzPts val="1400"/>
              <a:buChar char="●"/>
              <a:defRPr>
                <a:solidFill>
                  <a:schemeClr val="lt2"/>
                </a:solidFill>
              </a:defRPr>
            </a:lvl7pPr>
            <a:lvl8pPr marL="3657600" lvl="7" indent="-317500">
              <a:lnSpc>
                <a:spcPct val="115000"/>
              </a:lnSpc>
              <a:spcBef>
                <a:spcPts val="0"/>
              </a:spcBef>
              <a:spcAft>
                <a:spcPts val="0"/>
              </a:spcAft>
              <a:buClr>
                <a:schemeClr val="lt2"/>
              </a:buClr>
              <a:buSzPts val="1400"/>
              <a:buChar char="○"/>
              <a:defRPr>
                <a:solidFill>
                  <a:schemeClr val="lt2"/>
                </a:solidFill>
              </a:defRPr>
            </a:lvl8pPr>
            <a:lvl9pPr marL="4114800" lvl="8" indent="-317500">
              <a:lnSpc>
                <a:spcPct val="115000"/>
              </a:lnSpc>
              <a:spcBef>
                <a:spcPts val="0"/>
              </a:spcBef>
              <a:spcAft>
                <a:spcPts val="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1.jpg"/><Relationship Id="rId4" Type="http://schemas.openxmlformats.org/officeDocument/2006/relationships/hyperlink" Target="http://drive.google.com/file/d/1oQQAzBOIUc7K2xZAPvT3FHEQ19hUyMZc/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p:nvPr/>
        </p:nvSpPr>
        <p:spPr>
          <a:xfrm>
            <a:off x="2107625" y="3376575"/>
            <a:ext cx="4526100" cy="1224600"/>
          </a:xfrm>
          <a:prstGeom prst="rect">
            <a:avLst/>
          </a:prstGeom>
          <a:solidFill>
            <a:srgbClr val="3483B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5" name="Google Shape;55;p13"/>
          <p:cNvPicPr preferRelativeResize="0"/>
          <p:nvPr/>
        </p:nvPicPr>
        <p:blipFill>
          <a:blip r:embed="rId4">
            <a:alphaModFix/>
          </a:blip>
          <a:stretch>
            <a:fillRect/>
          </a:stretch>
        </p:blipFill>
        <p:spPr>
          <a:xfrm>
            <a:off x="3800713" y="88375"/>
            <a:ext cx="1325262" cy="1224575"/>
          </a:xfrm>
          <a:prstGeom prst="rect">
            <a:avLst/>
          </a:prstGeom>
          <a:noFill/>
          <a:ln>
            <a:noFill/>
          </a:ln>
        </p:spPr>
      </p:pic>
      <p:sp>
        <p:nvSpPr>
          <p:cNvPr id="56" name="Google Shape;56;p13"/>
          <p:cNvSpPr txBox="1"/>
          <p:nvPr/>
        </p:nvSpPr>
        <p:spPr>
          <a:xfrm>
            <a:off x="1113563" y="1312938"/>
            <a:ext cx="6514200" cy="1569900"/>
          </a:xfrm>
          <a:prstGeom prst="rect">
            <a:avLst/>
          </a:prstGeom>
          <a:noFill/>
          <a:ln>
            <a:noFill/>
          </a:ln>
        </p:spPr>
        <p:txBody>
          <a:bodyPr spcFirstLastPara="1" wrap="square" lIns="91425" tIns="91425" rIns="91425" bIns="91425" anchor="t" anchorCtr="0">
            <a:spAutoFit/>
          </a:bodyPr>
          <a:lstStyle/>
          <a:p>
            <a:pPr marL="0" lvl="0" indent="0" algn="ctr" rtl="0">
              <a:lnSpc>
                <a:spcPct val="200000"/>
              </a:lnSpc>
              <a:spcBef>
                <a:spcPts val="1200"/>
              </a:spcBef>
              <a:spcAft>
                <a:spcPts val="0"/>
              </a:spcAft>
              <a:buNone/>
            </a:pPr>
            <a:r>
              <a:rPr lang="en" sz="1800" b="1">
                <a:latin typeface="Times New Roman"/>
                <a:ea typeface="Times New Roman"/>
                <a:cs typeface="Times New Roman"/>
                <a:sym typeface="Times New Roman"/>
              </a:rPr>
              <a:t>DESIGN, FABRICATION AND TESTING OF A LOCALLY REMOTELY OPERATED VEHICLE FOR HULL INSPECTION</a:t>
            </a:r>
            <a:endParaRPr sz="1800" b="1">
              <a:latin typeface="Times New Roman"/>
              <a:ea typeface="Times New Roman"/>
              <a:cs typeface="Times New Roman"/>
              <a:sym typeface="Times New Roman"/>
            </a:endParaRPr>
          </a:p>
        </p:txBody>
      </p:sp>
      <p:sp>
        <p:nvSpPr>
          <p:cNvPr id="57" name="Google Shape;57;p13"/>
          <p:cNvSpPr txBox="1"/>
          <p:nvPr/>
        </p:nvSpPr>
        <p:spPr>
          <a:xfrm>
            <a:off x="2426700" y="3490425"/>
            <a:ext cx="4290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chemeClr val="dk1"/>
                </a:solidFill>
                <a:latin typeface="Times New Roman"/>
                <a:ea typeface="Times New Roman"/>
                <a:cs typeface="Times New Roman"/>
                <a:sym typeface="Times New Roman"/>
              </a:rPr>
              <a:t>By:	1. PEGGYOLANDA NYAMBURA </a:t>
            </a:r>
            <a:endParaRPr b="1" dirty="0">
              <a:solidFill>
                <a:schemeClr val="dk1"/>
              </a:solidFill>
              <a:latin typeface="Times New Roman"/>
              <a:ea typeface="Times New Roman"/>
              <a:cs typeface="Times New Roman"/>
              <a:sym typeface="Times New Roman"/>
            </a:endParaRPr>
          </a:p>
          <a:p>
            <a:pPr marL="457200" lvl="0" indent="457200" algn="l" rtl="0">
              <a:spcBef>
                <a:spcPts val="0"/>
              </a:spcBef>
              <a:spcAft>
                <a:spcPts val="0"/>
              </a:spcAft>
              <a:buNone/>
            </a:pPr>
            <a:r>
              <a:rPr lang="en" b="1" dirty="0">
                <a:solidFill>
                  <a:schemeClr val="dk1"/>
                </a:solidFill>
                <a:latin typeface="Times New Roman"/>
                <a:ea typeface="Times New Roman"/>
                <a:cs typeface="Times New Roman"/>
                <a:sym typeface="Times New Roman"/>
              </a:rPr>
              <a:t>2. DENNIS SAMMY</a:t>
            </a:r>
            <a:endParaRPr b="1" dirty="0">
              <a:solidFill>
                <a:schemeClr val="dk1"/>
              </a:solidFill>
              <a:latin typeface="Times New Roman"/>
              <a:ea typeface="Times New Roman"/>
              <a:cs typeface="Times New Roman"/>
              <a:sym typeface="Times New Roman"/>
            </a:endParaRPr>
          </a:p>
        </p:txBody>
      </p:sp>
      <p:sp>
        <p:nvSpPr>
          <p:cNvPr id="58" name="Google Shape;58;p13"/>
          <p:cNvSpPr txBox="1"/>
          <p:nvPr/>
        </p:nvSpPr>
        <p:spPr>
          <a:xfrm>
            <a:off x="2963350" y="2882850"/>
            <a:ext cx="3000000" cy="400200"/>
          </a:xfrm>
          <a:prstGeom prst="rect">
            <a:avLst/>
          </a:prstGeom>
          <a:noFill/>
          <a:ln>
            <a:noFill/>
          </a:ln>
        </p:spPr>
        <p:txBody>
          <a:bodyPr spcFirstLastPara="1" wrap="square" lIns="91425" tIns="91425" rIns="91425" bIns="91425" anchor="t" anchorCtr="0">
            <a:spAutoFit/>
          </a:bodyPr>
          <a:lstStyle/>
          <a:p>
            <a:pPr marL="0" lvl="0" indent="0" algn="ctr" rtl="0">
              <a:lnSpc>
                <a:spcPct val="200000"/>
              </a:lnSpc>
              <a:spcBef>
                <a:spcPts val="0"/>
              </a:spcBef>
              <a:spcAft>
                <a:spcPts val="0"/>
              </a:spcAft>
              <a:buNone/>
            </a:pPr>
            <a:r>
              <a:rPr lang="en" b="1">
                <a:latin typeface="Times New Roman"/>
                <a:ea typeface="Times New Roman"/>
                <a:cs typeface="Times New Roman"/>
                <a:sym typeface="Times New Roman"/>
              </a:rPr>
              <a:t>BSc MARINE ENGINEERING</a:t>
            </a:r>
            <a:endParaRPr>
              <a:latin typeface="Times New Roman"/>
              <a:ea typeface="Times New Roman"/>
              <a:cs typeface="Times New Roman"/>
              <a:sym typeface="Times New Roman"/>
            </a:endParaRPr>
          </a:p>
        </p:txBody>
      </p:sp>
      <p:sp>
        <p:nvSpPr>
          <p:cNvPr id="59" name="Google Shape;59;p13"/>
          <p:cNvSpPr txBox="1"/>
          <p:nvPr/>
        </p:nvSpPr>
        <p:spPr>
          <a:xfrm>
            <a:off x="2882400" y="3920850"/>
            <a:ext cx="28296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Times New Roman"/>
                <a:ea typeface="Times New Roman"/>
                <a:cs typeface="Times New Roman"/>
                <a:sym typeface="Times New Roman"/>
              </a:rPr>
              <a:t>Supervisor:</a:t>
            </a:r>
            <a:endParaRPr b="1">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en" b="1">
                <a:solidFill>
                  <a:schemeClr val="dk1"/>
                </a:solidFill>
                <a:latin typeface="Times New Roman"/>
                <a:ea typeface="Times New Roman"/>
                <a:cs typeface="Times New Roman"/>
                <a:sym typeface="Times New Roman"/>
              </a:rPr>
              <a:t>Dr. ELIJAH MUNYAO</a:t>
            </a:r>
            <a:endParaRPr b="1">
              <a:solidFill>
                <a:schemeClr val="dk1"/>
              </a:solidFill>
              <a:latin typeface="Times New Roman"/>
              <a:ea typeface="Times New Roman"/>
              <a:cs typeface="Times New Roman"/>
              <a:sym typeface="Times New Roman"/>
            </a:endParaRPr>
          </a:p>
        </p:txBody>
      </p:sp>
      <p:sp>
        <p:nvSpPr>
          <p:cNvPr id="60" name="Google Shape;60;p13"/>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
        <p:cNvGrpSpPr/>
        <p:nvPr/>
      </p:nvGrpSpPr>
      <p:grpSpPr>
        <a:xfrm>
          <a:off x="0" y="0"/>
          <a:ext cx="0" cy="0"/>
          <a:chOff x="0" y="0"/>
          <a:chExt cx="0" cy="0"/>
        </a:xfrm>
      </p:grpSpPr>
      <p:sp>
        <p:nvSpPr>
          <p:cNvPr id="65" name="Google Shape;65;p14"/>
          <p:cNvSpPr/>
          <p:nvPr/>
        </p:nvSpPr>
        <p:spPr>
          <a:xfrm>
            <a:off x="836250" y="541875"/>
            <a:ext cx="3983100" cy="8040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66" name="Google Shape;66;p14"/>
          <p:cNvSpPr txBox="1"/>
          <p:nvPr/>
        </p:nvSpPr>
        <p:spPr>
          <a:xfrm>
            <a:off x="1008775" y="636075"/>
            <a:ext cx="2932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dk1"/>
                </a:solidFill>
                <a:latin typeface="Times New Roman"/>
                <a:ea typeface="Times New Roman"/>
                <a:cs typeface="Times New Roman"/>
                <a:sym typeface="Times New Roman"/>
              </a:rPr>
              <a:t>Content</a:t>
            </a:r>
            <a:endParaRPr sz="2800" b="1">
              <a:solidFill>
                <a:schemeClr val="dk1"/>
              </a:solidFill>
              <a:latin typeface="Times New Roman"/>
              <a:ea typeface="Times New Roman"/>
              <a:cs typeface="Times New Roman"/>
              <a:sym typeface="Times New Roman"/>
            </a:endParaRPr>
          </a:p>
        </p:txBody>
      </p:sp>
      <p:sp>
        <p:nvSpPr>
          <p:cNvPr id="67" name="Google Shape;67;p14"/>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68" name="Google Shape;68;p14"/>
          <p:cNvSpPr txBox="1"/>
          <p:nvPr/>
        </p:nvSpPr>
        <p:spPr>
          <a:xfrm>
            <a:off x="811500" y="1630375"/>
            <a:ext cx="4032600" cy="1903800"/>
          </a:xfrm>
          <a:prstGeom prst="rect">
            <a:avLst/>
          </a:prstGeom>
          <a:noFill/>
          <a:ln>
            <a:noFill/>
          </a:ln>
        </p:spPr>
        <p:txBody>
          <a:bodyPr spcFirstLastPara="1" wrap="square" lIns="91425" tIns="91425" rIns="91425" bIns="91425" anchor="t" anchorCtr="0">
            <a:noAutofit/>
          </a:bodyPr>
          <a:lstStyle/>
          <a:p>
            <a:pPr marL="457200" lvl="0" indent="-368300" algn="l" rtl="0">
              <a:lnSpc>
                <a:spcPct val="200000"/>
              </a:lnSpc>
              <a:spcBef>
                <a:spcPts val="0"/>
              </a:spcBef>
              <a:spcAft>
                <a:spcPts val="0"/>
              </a:spcAft>
              <a:buClr>
                <a:srgbClr val="212121"/>
              </a:buClr>
              <a:buSzPts val="2200"/>
              <a:buFont typeface="Times New Roman"/>
              <a:buChar char="❏"/>
            </a:pPr>
            <a:r>
              <a:rPr lang="en" sz="2200">
                <a:solidFill>
                  <a:srgbClr val="212121"/>
                </a:solidFill>
                <a:latin typeface="Times New Roman"/>
                <a:ea typeface="Times New Roman"/>
                <a:cs typeface="Times New Roman"/>
                <a:sym typeface="Times New Roman"/>
              </a:rPr>
              <a:t>Background of study</a:t>
            </a:r>
            <a:endParaRPr sz="2200">
              <a:solidFill>
                <a:srgbClr val="21212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rgbClr val="212121"/>
              </a:buClr>
              <a:buSzPts val="2200"/>
              <a:buFont typeface="Times New Roman"/>
              <a:buChar char="❏"/>
            </a:pPr>
            <a:r>
              <a:rPr lang="en" sz="2200">
                <a:solidFill>
                  <a:srgbClr val="212121"/>
                </a:solidFill>
                <a:latin typeface="Times New Roman"/>
                <a:ea typeface="Times New Roman"/>
                <a:cs typeface="Times New Roman"/>
                <a:sym typeface="Times New Roman"/>
              </a:rPr>
              <a:t>Problem statement</a:t>
            </a:r>
            <a:endParaRPr sz="2200">
              <a:solidFill>
                <a:srgbClr val="21212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rgbClr val="212121"/>
              </a:buClr>
              <a:buSzPts val="2200"/>
              <a:buFont typeface="Times New Roman"/>
              <a:buChar char="❏"/>
            </a:pPr>
            <a:r>
              <a:rPr lang="en" sz="2200">
                <a:solidFill>
                  <a:srgbClr val="212121"/>
                </a:solidFill>
                <a:latin typeface="Times New Roman"/>
                <a:ea typeface="Times New Roman"/>
                <a:cs typeface="Times New Roman"/>
                <a:sym typeface="Times New Roman"/>
              </a:rPr>
              <a:t>Objectives</a:t>
            </a:r>
            <a:endParaRPr sz="2200">
              <a:solidFill>
                <a:srgbClr val="212121"/>
              </a:solidFill>
              <a:latin typeface="Times New Roman"/>
              <a:ea typeface="Times New Roman"/>
              <a:cs typeface="Times New Roman"/>
              <a:sym typeface="Times New Roman"/>
            </a:endParaRPr>
          </a:p>
          <a:p>
            <a:pPr marL="457200" lvl="0" indent="0" algn="l" rtl="0">
              <a:lnSpc>
                <a:spcPct val="200000"/>
              </a:lnSpc>
              <a:spcBef>
                <a:spcPts val="0"/>
              </a:spcBef>
              <a:spcAft>
                <a:spcPts val="0"/>
              </a:spcAft>
              <a:buNone/>
            </a:pPr>
            <a:endParaRPr sz="2000">
              <a:solidFill>
                <a:srgbClr val="212121"/>
              </a:solidFill>
              <a:latin typeface="Times New Roman"/>
              <a:ea typeface="Times New Roman"/>
              <a:cs typeface="Times New Roman"/>
              <a:sym typeface="Times New Roman"/>
            </a:endParaRPr>
          </a:p>
        </p:txBody>
      </p:sp>
      <p:sp>
        <p:nvSpPr>
          <p:cNvPr id="69" name="Google Shape;69;p14"/>
          <p:cNvSpPr txBox="1"/>
          <p:nvPr/>
        </p:nvSpPr>
        <p:spPr>
          <a:xfrm>
            <a:off x="4896275" y="541875"/>
            <a:ext cx="3488400" cy="3232500"/>
          </a:xfrm>
          <a:prstGeom prst="rect">
            <a:avLst/>
          </a:prstGeom>
          <a:noFill/>
          <a:ln>
            <a:noFill/>
          </a:ln>
        </p:spPr>
        <p:txBody>
          <a:bodyPr spcFirstLastPara="1" wrap="square" lIns="91425" tIns="91425" rIns="91425" bIns="91425" anchor="t" anchorCtr="0">
            <a:spAutoFit/>
          </a:bodyPr>
          <a:lstStyle/>
          <a:p>
            <a:pPr marL="457200" lvl="0" indent="-368300" algn="l" rtl="0">
              <a:lnSpc>
                <a:spcPct val="200000"/>
              </a:lnSpc>
              <a:spcBef>
                <a:spcPts val="0"/>
              </a:spcBef>
              <a:spcAft>
                <a:spcPts val="0"/>
              </a:spcAft>
              <a:buClr>
                <a:schemeClr val="lt1"/>
              </a:buClr>
              <a:buSzPts val="2200"/>
              <a:buFont typeface="Times New Roman"/>
              <a:buChar char="❏"/>
            </a:pPr>
            <a:r>
              <a:rPr lang="en" sz="2200">
                <a:solidFill>
                  <a:schemeClr val="lt1"/>
                </a:solidFill>
                <a:latin typeface="Times New Roman"/>
                <a:ea typeface="Times New Roman"/>
                <a:cs typeface="Times New Roman"/>
                <a:sym typeface="Times New Roman"/>
              </a:rPr>
              <a:t>Methodology</a:t>
            </a:r>
            <a:endParaRPr sz="2200">
              <a:solidFill>
                <a:schemeClr val="lt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chemeClr val="lt1"/>
              </a:buClr>
              <a:buSzPts val="2200"/>
              <a:buFont typeface="Times New Roman"/>
              <a:buChar char="❏"/>
            </a:pPr>
            <a:r>
              <a:rPr lang="en" sz="2200">
                <a:solidFill>
                  <a:schemeClr val="lt1"/>
                </a:solidFill>
                <a:latin typeface="Times New Roman"/>
                <a:ea typeface="Times New Roman"/>
                <a:cs typeface="Times New Roman"/>
                <a:sym typeface="Times New Roman"/>
              </a:rPr>
              <a:t>Results &amp; Discussion</a:t>
            </a:r>
            <a:endParaRPr sz="2200">
              <a:solidFill>
                <a:schemeClr val="lt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chemeClr val="lt1"/>
              </a:buClr>
              <a:buSzPts val="2200"/>
              <a:buFont typeface="Times New Roman"/>
              <a:buChar char="❏"/>
            </a:pPr>
            <a:r>
              <a:rPr lang="en" sz="2200">
                <a:solidFill>
                  <a:schemeClr val="lt1"/>
                </a:solidFill>
                <a:latin typeface="Times New Roman"/>
                <a:ea typeface="Times New Roman"/>
                <a:cs typeface="Times New Roman"/>
                <a:sym typeface="Times New Roman"/>
              </a:rPr>
              <a:t>Time plan</a:t>
            </a:r>
            <a:endParaRPr sz="2200">
              <a:solidFill>
                <a:schemeClr val="lt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chemeClr val="lt1"/>
              </a:buClr>
              <a:buSzPts val="2200"/>
              <a:buFont typeface="Times New Roman"/>
              <a:buChar char="❏"/>
            </a:pPr>
            <a:r>
              <a:rPr lang="en" sz="2200">
                <a:solidFill>
                  <a:schemeClr val="lt1"/>
                </a:solidFill>
                <a:latin typeface="Times New Roman"/>
                <a:ea typeface="Times New Roman"/>
                <a:cs typeface="Times New Roman"/>
                <a:sym typeface="Times New Roman"/>
              </a:rPr>
              <a:t>Budget</a:t>
            </a:r>
            <a:endParaRPr sz="2200">
              <a:solidFill>
                <a:schemeClr val="lt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chemeClr val="lt1"/>
              </a:buClr>
              <a:buSzPts val="2200"/>
              <a:buFont typeface="Times New Roman"/>
              <a:buChar char="❏"/>
            </a:pPr>
            <a:r>
              <a:rPr lang="en" sz="2200">
                <a:solidFill>
                  <a:schemeClr val="lt1"/>
                </a:solidFill>
                <a:latin typeface="Times New Roman"/>
                <a:ea typeface="Times New Roman"/>
                <a:cs typeface="Times New Roman"/>
                <a:sym typeface="Times New Roman"/>
              </a:rPr>
              <a:t>Conclusion</a:t>
            </a:r>
            <a:endParaRPr sz="1600">
              <a:latin typeface="Times New Roman"/>
              <a:ea typeface="Times New Roman"/>
              <a:cs typeface="Times New Roman"/>
              <a:sym typeface="Times New Roman"/>
            </a:endParaRPr>
          </a:p>
        </p:txBody>
      </p:sp>
      <p:sp>
        <p:nvSpPr>
          <p:cNvPr id="70" name="Google Shape;70;p14"/>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
        <p:cNvGrpSpPr/>
        <p:nvPr/>
      </p:nvGrpSpPr>
      <p:grpSpPr>
        <a:xfrm>
          <a:off x="0" y="0"/>
          <a:ext cx="0" cy="0"/>
          <a:chOff x="0" y="0"/>
          <a:chExt cx="0" cy="0"/>
        </a:xfrm>
      </p:grpSpPr>
      <p:sp>
        <p:nvSpPr>
          <p:cNvPr id="75" name="Google Shape;75;p15"/>
          <p:cNvSpPr/>
          <p:nvPr/>
        </p:nvSpPr>
        <p:spPr>
          <a:xfrm>
            <a:off x="489875" y="304150"/>
            <a:ext cx="3629400" cy="6669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76" name="Google Shape;76;p15"/>
          <p:cNvSpPr txBox="1"/>
          <p:nvPr/>
        </p:nvSpPr>
        <p:spPr>
          <a:xfrm>
            <a:off x="489875" y="222800"/>
            <a:ext cx="3488400" cy="492600"/>
          </a:xfrm>
          <a:prstGeom prst="rect">
            <a:avLst/>
          </a:prstGeom>
          <a:noFill/>
          <a:ln>
            <a:noFill/>
          </a:ln>
        </p:spPr>
        <p:txBody>
          <a:bodyPr spcFirstLastPara="1" wrap="square" lIns="91425" tIns="91425" rIns="91425" bIns="91425" anchor="t" anchorCtr="0">
            <a:spAutoFit/>
          </a:bodyPr>
          <a:lstStyle/>
          <a:p>
            <a:pPr marL="0" lvl="0" indent="0" algn="ctr" rtl="0">
              <a:lnSpc>
                <a:spcPct val="200000"/>
              </a:lnSpc>
              <a:spcBef>
                <a:spcPts val="0"/>
              </a:spcBef>
              <a:spcAft>
                <a:spcPts val="0"/>
              </a:spcAft>
              <a:buNone/>
            </a:pPr>
            <a:r>
              <a:rPr lang="en" sz="2000" b="1" dirty="0">
                <a:solidFill>
                  <a:schemeClr val="dk1"/>
                </a:solidFill>
                <a:latin typeface="Times New Roman"/>
                <a:ea typeface="Times New Roman"/>
                <a:cs typeface="Times New Roman"/>
                <a:sym typeface="Times New Roman"/>
              </a:rPr>
              <a:t>Background of study</a:t>
            </a:r>
            <a:endParaRPr sz="2600" b="1" dirty="0">
              <a:solidFill>
                <a:schemeClr val="dk1"/>
              </a:solidFill>
              <a:latin typeface="Times New Roman"/>
              <a:ea typeface="Times New Roman"/>
              <a:cs typeface="Times New Roman"/>
              <a:sym typeface="Times New Roman"/>
            </a:endParaRPr>
          </a:p>
        </p:txBody>
      </p:sp>
      <p:sp>
        <p:nvSpPr>
          <p:cNvPr id="77" name="Google Shape;77;p15"/>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78" name="Google Shape;78;p15"/>
          <p:cNvSpPr txBox="1"/>
          <p:nvPr/>
        </p:nvSpPr>
        <p:spPr>
          <a:xfrm>
            <a:off x="489875" y="971050"/>
            <a:ext cx="8654100" cy="4172400"/>
          </a:xfrm>
          <a:prstGeom prst="rect">
            <a:avLst/>
          </a:prstGeom>
          <a:noFill/>
          <a:ln>
            <a:noFill/>
          </a:ln>
        </p:spPr>
        <p:txBody>
          <a:bodyPr spcFirstLastPara="1" wrap="square" lIns="91425" tIns="91425" rIns="91425" bIns="91425" anchor="t" anchorCtr="0">
            <a:noAutofit/>
          </a:bodyPr>
          <a:lstStyle/>
          <a:p>
            <a:pPr marL="457200" lvl="0" indent="-349250" algn="just" rtl="0">
              <a:lnSpc>
                <a:spcPct val="20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Ships are required to be inspected over a given period of time as safety measures. </a:t>
            </a:r>
            <a:endParaRPr sz="1900">
              <a:latin typeface="Times New Roman"/>
              <a:ea typeface="Times New Roman"/>
              <a:cs typeface="Times New Roman"/>
              <a:sym typeface="Times New Roman"/>
            </a:endParaRPr>
          </a:p>
          <a:p>
            <a:pPr marL="457200" lvl="0" indent="-349250" algn="just" rtl="0">
              <a:lnSpc>
                <a:spcPct val="200000"/>
              </a:lnSpc>
              <a:spcBef>
                <a:spcPts val="0"/>
              </a:spcBef>
              <a:spcAft>
                <a:spcPts val="0"/>
              </a:spcAft>
              <a:buClr>
                <a:srgbClr val="212121"/>
              </a:buClr>
              <a:buSzPts val="1900"/>
              <a:buFont typeface="Times New Roman"/>
              <a:buChar char="●"/>
            </a:pPr>
            <a:r>
              <a:rPr lang="en" sz="1900">
                <a:solidFill>
                  <a:srgbClr val="212121"/>
                </a:solidFill>
                <a:latin typeface="Times New Roman"/>
                <a:ea typeface="Times New Roman"/>
                <a:cs typeface="Times New Roman"/>
                <a:sym typeface="Times New Roman"/>
              </a:rPr>
              <a:t>The hull is exposed to undesirable processes such as biofouling and corrosion making its inspection vital.</a:t>
            </a:r>
            <a:endParaRPr sz="1900">
              <a:solidFill>
                <a:srgbClr val="212121"/>
              </a:solidFill>
              <a:latin typeface="Times New Roman"/>
              <a:ea typeface="Times New Roman"/>
              <a:cs typeface="Times New Roman"/>
              <a:sym typeface="Times New Roman"/>
            </a:endParaRPr>
          </a:p>
          <a:p>
            <a:pPr marL="457200" lvl="0" indent="-349250" algn="just" rtl="0">
              <a:lnSpc>
                <a:spcPct val="200000"/>
              </a:lnSpc>
              <a:spcBef>
                <a:spcPts val="0"/>
              </a:spcBef>
              <a:spcAft>
                <a:spcPts val="0"/>
              </a:spcAft>
              <a:buClr>
                <a:srgbClr val="212121"/>
              </a:buClr>
              <a:buSzPts val="1900"/>
              <a:buFont typeface="Times New Roman"/>
              <a:buChar char="●"/>
            </a:pPr>
            <a:r>
              <a:rPr lang="en" sz="1900">
                <a:solidFill>
                  <a:srgbClr val="212121"/>
                </a:solidFill>
                <a:latin typeface="Times New Roman"/>
                <a:ea typeface="Times New Roman"/>
                <a:cs typeface="Times New Roman"/>
                <a:sym typeface="Times New Roman"/>
              </a:rPr>
              <a:t>Corrosion can bring about structural failure which is a major cause of maritime accidents and ships have to undergo detailed hull inspections.</a:t>
            </a:r>
            <a:endParaRPr sz="1900">
              <a:solidFill>
                <a:srgbClr val="212121"/>
              </a:solidFill>
              <a:latin typeface="Times New Roman"/>
              <a:ea typeface="Times New Roman"/>
              <a:cs typeface="Times New Roman"/>
              <a:sym typeface="Times New Roman"/>
            </a:endParaRPr>
          </a:p>
          <a:p>
            <a:pPr marL="457200" lvl="0" indent="-349250" algn="just" rtl="0">
              <a:lnSpc>
                <a:spcPct val="200000"/>
              </a:lnSpc>
              <a:spcBef>
                <a:spcPts val="0"/>
              </a:spcBef>
              <a:spcAft>
                <a:spcPts val="0"/>
              </a:spcAft>
              <a:buClr>
                <a:srgbClr val="212121"/>
              </a:buClr>
              <a:buSzPts val="1900"/>
              <a:buFont typeface="Times New Roman"/>
              <a:buChar char="●"/>
            </a:pPr>
            <a:r>
              <a:rPr lang="en" sz="1900">
                <a:solidFill>
                  <a:srgbClr val="212121"/>
                </a:solidFill>
                <a:latin typeface="Times New Roman"/>
                <a:ea typeface="Times New Roman"/>
                <a:cs typeface="Times New Roman"/>
                <a:sym typeface="Times New Roman"/>
              </a:rPr>
              <a:t>Similarly, Biofouling have a great negative impact on the performance, condition, and lifespan of the ship.</a:t>
            </a:r>
            <a:endParaRPr sz="1900">
              <a:solidFill>
                <a:srgbClr val="212121"/>
              </a:solidFill>
              <a:latin typeface="Times New Roman"/>
              <a:ea typeface="Times New Roman"/>
              <a:cs typeface="Times New Roman"/>
              <a:sym typeface="Times New Roman"/>
            </a:endParaRPr>
          </a:p>
        </p:txBody>
      </p:sp>
      <p:sp>
        <p:nvSpPr>
          <p:cNvPr id="79" name="Google Shape;79;p15"/>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6"/>
          <p:cNvSpPr/>
          <p:nvPr/>
        </p:nvSpPr>
        <p:spPr>
          <a:xfrm>
            <a:off x="486575" y="240250"/>
            <a:ext cx="4742700" cy="6669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p:nvPr/>
        </p:nvSpPr>
        <p:spPr>
          <a:xfrm>
            <a:off x="486575" y="-41900"/>
            <a:ext cx="4742700" cy="615600"/>
          </a:xfrm>
          <a:prstGeom prst="rect">
            <a:avLst/>
          </a:prstGeom>
          <a:noFill/>
          <a:ln>
            <a:noFill/>
          </a:ln>
        </p:spPr>
        <p:txBody>
          <a:bodyPr spcFirstLastPara="1" wrap="square" lIns="91425" tIns="91425" rIns="91425" bIns="91425" anchor="t" anchorCtr="0">
            <a:spAutoFit/>
          </a:bodyPr>
          <a:lstStyle/>
          <a:p>
            <a:pPr marL="0" lvl="0" indent="0" algn="ctr" rtl="0">
              <a:lnSpc>
                <a:spcPct val="200000"/>
              </a:lnSpc>
              <a:spcBef>
                <a:spcPts val="0"/>
              </a:spcBef>
              <a:spcAft>
                <a:spcPts val="0"/>
              </a:spcAft>
              <a:buNone/>
            </a:pPr>
            <a:r>
              <a:rPr lang="en" sz="2800" b="1" dirty="0">
                <a:solidFill>
                  <a:schemeClr val="dk1"/>
                </a:solidFill>
                <a:latin typeface="Times New Roman"/>
                <a:ea typeface="Times New Roman"/>
                <a:cs typeface="Times New Roman"/>
                <a:sym typeface="Times New Roman"/>
              </a:rPr>
              <a:t>Background of study, cont.</a:t>
            </a:r>
            <a:endParaRPr sz="2800" b="1" dirty="0">
              <a:solidFill>
                <a:schemeClr val="dk1"/>
              </a:solidFill>
              <a:latin typeface="Times New Roman"/>
              <a:ea typeface="Times New Roman"/>
              <a:cs typeface="Times New Roman"/>
              <a:sym typeface="Times New Roman"/>
            </a:endParaRPr>
          </a:p>
        </p:txBody>
      </p:sp>
      <p:sp>
        <p:nvSpPr>
          <p:cNvPr id="86" name="Google Shape;86;p16"/>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Comfortaa"/>
                <a:ea typeface="Comfortaa"/>
                <a:cs typeface="Comfortaa"/>
                <a:sym typeface="Comfortaa"/>
              </a:rPr>
              <a:t>@2024</a:t>
            </a:r>
            <a:endParaRPr sz="1200">
              <a:solidFill>
                <a:srgbClr val="212121"/>
              </a:solidFill>
              <a:latin typeface="Comfortaa"/>
              <a:ea typeface="Comfortaa"/>
              <a:cs typeface="Comfortaa"/>
              <a:sym typeface="Comfortaa"/>
            </a:endParaRPr>
          </a:p>
        </p:txBody>
      </p:sp>
      <p:sp>
        <p:nvSpPr>
          <p:cNvPr id="87" name="Google Shape;87;p16"/>
          <p:cNvSpPr txBox="1"/>
          <p:nvPr/>
        </p:nvSpPr>
        <p:spPr>
          <a:xfrm>
            <a:off x="486575" y="959350"/>
            <a:ext cx="4347000" cy="3808200"/>
          </a:xfrm>
          <a:prstGeom prst="rect">
            <a:avLst/>
          </a:prstGeom>
          <a:noFill/>
          <a:ln>
            <a:noFill/>
          </a:ln>
        </p:spPr>
        <p:txBody>
          <a:bodyPr spcFirstLastPara="1" wrap="square" lIns="91425" tIns="91425" rIns="91425" bIns="91425" anchor="t" anchorCtr="0">
            <a:noAutofit/>
          </a:bodyPr>
          <a:lstStyle/>
          <a:p>
            <a:pPr marL="457200" lvl="0" indent="-330200" algn="just" rtl="0">
              <a:lnSpc>
                <a:spcPct val="20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Dry docking</a:t>
            </a:r>
            <a:endParaRPr sz="1600">
              <a:latin typeface="Times New Roman"/>
              <a:ea typeface="Times New Roman"/>
              <a:cs typeface="Times New Roman"/>
              <a:sym typeface="Times New Roman"/>
            </a:endParaRPr>
          </a:p>
          <a:p>
            <a:pPr marL="457200" lvl="0" indent="0" algn="just" rtl="0">
              <a:lnSpc>
                <a:spcPct val="200000"/>
              </a:lnSpc>
              <a:spcBef>
                <a:spcPts val="800"/>
              </a:spcBef>
              <a:spcAft>
                <a:spcPts val="0"/>
              </a:spcAft>
              <a:buNone/>
            </a:pPr>
            <a:r>
              <a:rPr lang="en" sz="1600">
                <a:latin typeface="Times New Roman"/>
                <a:ea typeface="Times New Roman"/>
                <a:cs typeface="Times New Roman"/>
                <a:sym typeface="Times New Roman"/>
              </a:rPr>
              <a:t>Ship is unsubmerged for a comprehensive inspection to be conducted on the hull, the rudder, propeller and stabilizers</a:t>
            </a:r>
            <a:endParaRPr sz="1600">
              <a:latin typeface="Times New Roman"/>
              <a:ea typeface="Times New Roman"/>
              <a:cs typeface="Times New Roman"/>
              <a:sym typeface="Times New Roman"/>
            </a:endParaRPr>
          </a:p>
          <a:p>
            <a:pPr marL="457200" lvl="0" indent="-330200" algn="just" rtl="0">
              <a:lnSpc>
                <a:spcPct val="200000"/>
              </a:lnSpc>
              <a:spcBef>
                <a:spcPts val="800"/>
              </a:spcBef>
              <a:spcAft>
                <a:spcPts val="0"/>
              </a:spcAft>
              <a:buSzPts val="1600"/>
              <a:buFont typeface="Times New Roman"/>
              <a:buChar char="●"/>
            </a:pPr>
            <a:r>
              <a:rPr lang="en" sz="1600">
                <a:latin typeface="Times New Roman"/>
                <a:ea typeface="Times New Roman"/>
                <a:cs typeface="Times New Roman"/>
                <a:sym typeface="Times New Roman"/>
              </a:rPr>
              <a:t>Use of underwater inspectors</a:t>
            </a:r>
            <a:endParaRPr sz="1600">
              <a:latin typeface="Times New Roman"/>
              <a:ea typeface="Times New Roman"/>
              <a:cs typeface="Times New Roman"/>
              <a:sym typeface="Times New Roman"/>
            </a:endParaRPr>
          </a:p>
          <a:p>
            <a:pPr marL="457200" lvl="0" indent="0" algn="just" rtl="0">
              <a:lnSpc>
                <a:spcPct val="200000"/>
              </a:lnSpc>
              <a:spcBef>
                <a:spcPts val="800"/>
              </a:spcBef>
              <a:spcAft>
                <a:spcPts val="800"/>
              </a:spcAft>
              <a:buNone/>
            </a:pPr>
            <a:r>
              <a:rPr lang="en" sz="1600">
                <a:latin typeface="Times New Roman"/>
                <a:ea typeface="Times New Roman"/>
                <a:cs typeface="Times New Roman"/>
                <a:sym typeface="Times New Roman"/>
              </a:rPr>
              <a:t>Exposed to hydrostatic pressures, low visibilities, marine predators and rough and harsh sea conditions</a:t>
            </a:r>
            <a:endParaRPr sz="1600">
              <a:latin typeface="Times New Roman"/>
              <a:ea typeface="Times New Roman"/>
              <a:cs typeface="Times New Roman"/>
              <a:sym typeface="Times New Roman"/>
            </a:endParaRPr>
          </a:p>
        </p:txBody>
      </p:sp>
      <p:pic>
        <p:nvPicPr>
          <p:cNvPr id="88" name="Google Shape;88;p16"/>
          <p:cNvPicPr preferRelativeResize="0"/>
          <p:nvPr/>
        </p:nvPicPr>
        <p:blipFill>
          <a:blip r:embed="rId4">
            <a:alphaModFix/>
          </a:blip>
          <a:stretch>
            <a:fillRect/>
          </a:stretch>
        </p:blipFill>
        <p:spPr>
          <a:xfrm>
            <a:off x="5040500" y="1394237"/>
            <a:ext cx="4887200" cy="2749050"/>
          </a:xfrm>
          <a:prstGeom prst="rect">
            <a:avLst/>
          </a:prstGeom>
          <a:noFill/>
          <a:ln>
            <a:noFill/>
          </a:ln>
        </p:spPr>
      </p:pic>
      <p:sp>
        <p:nvSpPr>
          <p:cNvPr id="89" name="Google Shape;89;p16"/>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3"/>
        <p:cNvGrpSpPr/>
        <p:nvPr/>
      </p:nvGrpSpPr>
      <p:grpSpPr>
        <a:xfrm>
          <a:off x="0" y="0"/>
          <a:ext cx="0" cy="0"/>
          <a:chOff x="0" y="0"/>
          <a:chExt cx="0" cy="0"/>
        </a:xfrm>
      </p:grpSpPr>
      <p:sp>
        <p:nvSpPr>
          <p:cNvPr id="94" name="Google Shape;94;p17"/>
          <p:cNvSpPr txBox="1"/>
          <p:nvPr/>
        </p:nvSpPr>
        <p:spPr>
          <a:xfrm>
            <a:off x="1008775" y="158450"/>
            <a:ext cx="5739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solidFill>
                  <a:srgbClr val="212121"/>
                </a:solidFill>
                <a:latin typeface="Times New Roman"/>
                <a:ea typeface="Times New Roman"/>
                <a:cs typeface="Times New Roman"/>
                <a:sym typeface="Times New Roman"/>
              </a:rPr>
              <a:t>Challenges faced in hull inspection</a:t>
            </a:r>
            <a:endParaRPr sz="3000" b="1">
              <a:solidFill>
                <a:srgbClr val="212121"/>
              </a:solidFill>
              <a:latin typeface="Times New Roman"/>
              <a:ea typeface="Times New Roman"/>
              <a:cs typeface="Times New Roman"/>
              <a:sym typeface="Times New Roman"/>
            </a:endParaRPr>
          </a:p>
        </p:txBody>
      </p:sp>
      <p:sp>
        <p:nvSpPr>
          <p:cNvPr id="95" name="Google Shape;95;p17"/>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96" name="Google Shape;96;p17"/>
          <p:cNvSpPr txBox="1"/>
          <p:nvPr/>
        </p:nvSpPr>
        <p:spPr>
          <a:xfrm>
            <a:off x="1069500" y="1266650"/>
            <a:ext cx="7005000" cy="2851800"/>
          </a:xfrm>
          <a:prstGeom prst="rect">
            <a:avLst/>
          </a:prstGeom>
          <a:noFill/>
          <a:ln>
            <a:noFill/>
          </a:ln>
        </p:spPr>
        <p:txBody>
          <a:bodyPr spcFirstLastPara="1" wrap="square" lIns="91425" tIns="91425" rIns="91425" bIns="91425" anchor="t" anchorCtr="0">
            <a:noAutofit/>
          </a:bodyPr>
          <a:lstStyle/>
          <a:p>
            <a:pPr marL="457200" lvl="0" indent="-368300" algn="l" rtl="0">
              <a:lnSpc>
                <a:spcPct val="200000"/>
              </a:lnSpc>
              <a:spcBef>
                <a:spcPts val="0"/>
              </a:spcBef>
              <a:spcAft>
                <a:spcPts val="0"/>
              </a:spcAft>
              <a:buClr>
                <a:srgbClr val="212121"/>
              </a:buClr>
              <a:buSzPts val="2200"/>
              <a:buFont typeface="Times New Roman"/>
              <a:buChar char="❏"/>
            </a:pPr>
            <a:r>
              <a:rPr lang="en" sz="2200">
                <a:solidFill>
                  <a:srgbClr val="212121"/>
                </a:solidFill>
                <a:latin typeface="Times New Roman"/>
                <a:ea typeface="Times New Roman"/>
                <a:cs typeface="Times New Roman"/>
                <a:sym typeface="Times New Roman"/>
              </a:rPr>
              <a:t>High cost</a:t>
            </a:r>
            <a:endParaRPr sz="2200">
              <a:solidFill>
                <a:srgbClr val="21212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rgbClr val="212121"/>
              </a:buClr>
              <a:buSzPts val="2200"/>
              <a:buFont typeface="Times New Roman"/>
              <a:buChar char="❏"/>
            </a:pPr>
            <a:r>
              <a:rPr lang="en" sz="2200">
                <a:solidFill>
                  <a:srgbClr val="212121"/>
                </a:solidFill>
                <a:latin typeface="Times New Roman"/>
                <a:ea typeface="Times New Roman"/>
                <a:cs typeface="Times New Roman"/>
                <a:sym typeface="Times New Roman"/>
              </a:rPr>
              <a:t>Time consuming process</a:t>
            </a:r>
            <a:endParaRPr sz="2200">
              <a:solidFill>
                <a:srgbClr val="21212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rgbClr val="212121"/>
              </a:buClr>
              <a:buSzPts val="2200"/>
              <a:buFont typeface="Times New Roman"/>
              <a:buChar char="❏"/>
            </a:pPr>
            <a:r>
              <a:rPr lang="en" sz="2200">
                <a:solidFill>
                  <a:srgbClr val="212121"/>
                </a:solidFill>
                <a:latin typeface="Times New Roman"/>
                <a:ea typeface="Times New Roman"/>
                <a:cs typeface="Times New Roman"/>
                <a:sym typeface="Times New Roman"/>
              </a:rPr>
              <a:t>Safety hazards</a:t>
            </a:r>
            <a:endParaRPr sz="2200">
              <a:solidFill>
                <a:srgbClr val="212121"/>
              </a:solidFill>
              <a:latin typeface="Times New Roman"/>
              <a:ea typeface="Times New Roman"/>
              <a:cs typeface="Times New Roman"/>
              <a:sym typeface="Times New Roman"/>
            </a:endParaRPr>
          </a:p>
          <a:p>
            <a:pPr marL="457200" lvl="0" indent="-368300" algn="l" rtl="0">
              <a:lnSpc>
                <a:spcPct val="200000"/>
              </a:lnSpc>
              <a:spcBef>
                <a:spcPts val="0"/>
              </a:spcBef>
              <a:spcAft>
                <a:spcPts val="0"/>
              </a:spcAft>
              <a:buClr>
                <a:srgbClr val="212121"/>
              </a:buClr>
              <a:buSzPts val="2200"/>
              <a:buFont typeface="Times New Roman"/>
              <a:buChar char="❏"/>
            </a:pPr>
            <a:r>
              <a:rPr lang="en" sz="2200">
                <a:solidFill>
                  <a:srgbClr val="212121"/>
                </a:solidFill>
                <a:latin typeface="Times New Roman"/>
                <a:ea typeface="Times New Roman"/>
                <a:cs typeface="Times New Roman"/>
                <a:sym typeface="Times New Roman"/>
              </a:rPr>
              <a:t>Limited access to some submerged areas</a:t>
            </a:r>
            <a:endParaRPr sz="2200">
              <a:solidFill>
                <a:srgbClr val="212121"/>
              </a:solidFill>
              <a:latin typeface="Times New Roman"/>
              <a:ea typeface="Times New Roman"/>
              <a:cs typeface="Times New Roman"/>
              <a:sym typeface="Times New Roman"/>
            </a:endParaRPr>
          </a:p>
          <a:p>
            <a:pPr marL="457200" lvl="0" indent="0" algn="l" rtl="0">
              <a:lnSpc>
                <a:spcPct val="200000"/>
              </a:lnSpc>
              <a:spcBef>
                <a:spcPts val="0"/>
              </a:spcBef>
              <a:spcAft>
                <a:spcPts val="0"/>
              </a:spcAft>
              <a:buNone/>
            </a:pPr>
            <a:endParaRPr sz="2200">
              <a:solidFill>
                <a:srgbClr val="212121"/>
              </a:solidFill>
              <a:latin typeface="Times New Roman"/>
              <a:ea typeface="Times New Roman"/>
              <a:cs typeface="Times New Roman"/>
              <a:sym typeface="Times New Roman"/>
            </a:endParaRPr>
          </a:p>
          <a:p>
            <a:pPr marL="457200" lvl="0" indent="0" algn="l" rtl="0">
              <a:lnSpc>
                <a:spcPct val="200000"/>
              </a:lnSpc>
              <a:spcBef>
                <a:spcPts val="0"/>
              </a:spcBef>
              <a:spcAft>
                <a:spcPts val="0"/>
              </a:spcAft>
              <a:buNone/>
            </a:pPr>
            <a:endParaRPr sz="2200">
              <a:solidFill>
                <a:srgbClr val="212121"/>
              </a:solidFill>
              <a:latin typeface="Times New Roman"/>
              <a:ea typeface="Times New Roman"/>
              <a:cs typeface="Times New Roman"/>
              <a:sym typeface="Times New Roman"/>
            </a:endParaRPr>
          </a:p>
          <a:p>
            <a:pPr marL="457200" lvl="0" indent="0" algn="l" rtl="0">
              <a:lnSpc>
                <a:spcPct val="200000"/>
              </a:lnSpc>
              <a:spcBef>
                <a:spcPts val="0"/>
              </a:spcBef>
              <a:spcAft>
                <a:spcPts val="0"/>
              </a:spcAft>
              <a:buNone/>
            </a:pPr>
            <a:endParaRPr sz="2000">
              <a:solidFill>
                <a:srgbClr val="212121"/>
              </a:solidFill>
              <a:latin typeface="Times New Roman"/>
              <a:ea typeface="Times New Roman"/>
              <a:cs typeface="Times New Roman"/>
              <a:sym typeface="Times New Roman"/>
            </a:endParaRPr>
          </a:p>
        </p:txBody>
      </p:sp>
      <p:sp>
        <p:nvSpPr>
          <p:cNvPr id="97" name="Google Shape;97;p17"/>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102" name="Google Shape;102;p18"/>
          <p:cNvSpPr/>
          <p:nvPr/>
        </p:nvSpPr>
        <p:spPr>
          <a:xfrm>
            <a:off x="353350" y="418175"/>
            <a:ext cx="4742700" cy="6669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8"/>
          <p:cNvSpPr txBox="1"/>
          <p:nvPr/>
        </p:nvSpPr>
        <p:spPr>
          <a:xfrm>
            <a:off x="341199" y="279738"/>
            <a:ext cx="4742700" cy="538800"/>
          </a:xfrm>
          <a:prstGeom prst="rect">
            <a:avLst/>
          </a:prstGeom>
          <a:noFill/>
          <a:ln>
            <a:noFill/>
          </a:ln>
        </p:spPr>
        <p:txBody>
          <a:bodyPr spcFirstLastPara="1" wrap="square" lIns="91425" tIns="91425" rIns="91425" bIns="91425" anchor="t" anchorCtr="0">
            <a:spAutoFit/>
          </a:bodyPr>
          <a:lstStyle/>
          <a:p>
            <a:pPr marL="0" lvl="0" indent="0" algn="ctr" rtl="0">
              <a:lnSpc>
                <a:spcPct val="200000"/>
              </a:lnSpc>
              <a:spcBef>
                <a:spcPts val="0"/>
              </a:spcBef>
              <a:spcAft>
                <a:spcPts val="0"/>
              </a:spcAft>
              <a:buNone/>
            </a:pPr>
            <a:r>
              <a:rPr lang="en" sz="2300" b="1" dirty="0">
                <a:solidFill>
                  <a:schemeClr val="dk1"/>
                </a:solidFill>
                <a:latin typeface="Times New Roman"/>
                <a:ea typeface="Times New Roman"/>
                <a:cs typeface="Times New Roman"/>
                <a:sym typeface="Times New Roman"/>
              </a:rPr>
              <a:t>Remotely Operated Vehicle - ROV</a:t>
            </a:r>
            <a:endParaRPr sz="2300" b="1" dirty="0">
              <a:solidFill>
                <a:schemeClr val="dk1"/>
              </a:solidFill>
              <a:latin typeface="Times New Roman"/>
              <a:ea typeface="Times New Roman"/>
              <a:cs typeface="Times New Roman"/>
              <a:sym typeface="Times New Roman"/>
            </a:endParaRPr>
          </a:p>
        </p:txBody>
      </p:sp>
      <p:sp>
        <p:nvSpPr>
          <p:cNvPr id="104" name="Google Shape;104;p18"/>
          <p:cNvSpPr txBox="1"/>
          <p:nvPr/>
        </p:nvSpPr>
        <p:spPr>
          <a:xfrm>
            <a:off x="353350" y="46302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Comfortaa"/>
                <a:ea typeface="Comfortaa"/>
                <a:cs typeface="Comfortaa"/>
                <a:sym typeface="Comfortaa"/>
              </a:rPr>
              <a:t>@2024</a:t>
            </a:r>
            <a:endParaRPr sz="1200">
              <a:solidFill>
                <a:srgbClr val="212121"/>
              </a:solidFill>
              <a:latin typeface="Comfortaa"/>
              <a:ea typeface="Comfortaa"/>
              <a:cs typeface="Comfortaa"/>
              <a:sym typeface="Comfortaa"/>
            </a:endParaRPr>
          </a:p>
        </p:txBody>
      </p:sp>
      <p:sp>
        <p:nvSpPr>
          <p:cNvPr id="105" name="Google Shape;105;p18"/>
          <p:cNvSpPr txBox="1"/>
          <p:nvPr/>
        </p:nvSpPr>
        <p:spPr>
          <a:xfrm>
            <a:off x="350050" y="1179125"/>
            <a:ext cx="4742700" cy="2614800"/>
          </a:xfrm>
          <a:prstGeom prst="rect">
            <a:avLst/>
          </a:prstGeom>
          <a:noFill/>
          <a:ln>
            <a:noFill/>
          </a:ln>
        </p:spPr>
        <p:txBody>
          <a:bodyPr spcFirstLastPara="1" wrap="square" lIns="91425" tIns="91425" rIns="91425" bIns="91425" anchor="t" anchorCtr="0">
            <a:noAutofit/>
          </a:bodyPr>
          <a:lstStyle/>
          <a:p>
            <a:pPr marL="0" lvl="0" indent="0" algn="just" rtl="0">
              <a:lnSpc>
                <a:spcPct val="200000"/>
              </a:lnSpc>
              <a:spcBef>
                <a:spcPts val="0"/>
              </a:spcBef>
              <a:spcAft>
                <a:spcPts val="800"/>
              </a:spcAft>
              <a:buNone/>
            </a:pPr>
            <a:r>
              <a:rPr lang="en" sz="2000">
                <a:latin typeface="Times New Roman"/>
                <a:ea typeface="Times New Roman"/>
                <a:cs typeface="Times New Roman"/>
                <a:sym typeface="Times New Roman"/>
              </a:rPr>
              <a:t>is a maneuverable underwater machine that can be used to explore and inspect ocean depths operated by someone at the water surface.</a:t>
            </a:r>
            <a:endParaRPr sz="2000">
              <a:latin typeface="Times New Roman"/>
              <a:ea typeface="Times New Roman"/>
              <a:cs typeface="Times New Roman"/>
              <a:sym typeface="Times New Roman"/>
            </a:endParaRPr>
          </a:p>
        </p:txBody>
      </p:sp>
      <p:pic>
        <p:nvPicPr>
          <p:cNvPr id="106" name="Google Shape;106;p18"/>
          <p:cNvPicPr preferRelativeResize="0"/>
          <p:nvPr/>
        </p:nvPicPr>
        <p:blipFill>
          <a:blip r:embed="rId4">
            <a:alphaModFix/>
          </a:blip>
          <a:stretch>
            <a:fillRect/>
          </a:stretch>
        </p:blipFill>
        <p:spPr>
          <a:xfrm>
            <a:off x="5273175" y="418175"/>
            <a:ext cx="3608750" cy="2213025"/>
          </a:xfrm>
          <a:prstGeom prst="rect">
            <a:avLst/>
          </a:prstGeom>
          <a:noFill/>
          <a:ln>
            <a:noFill/>
          </a:ln>
        </p:spPr>
      </p:pic>
      <p:sp>
        <p:nvSpPr>
          <p:cNvPr id="107" name="Google Shape;107;p18"/>
          <p:cNvSpPr/>
          <p:nvPr/>
        </p:nvSpPr>
        <p:spPr>
          <a:xfrm>
            <a:off x="5282225" y="2717775"/>
            <a:ext cx="3608700" cy="2281800"/>
          </a:xfrm>
          <a:prstGeom prst="rect">
            <a:avLst/>
          </a:prstGeom>
          <a:solidFill>
            <a:srgbClr val="3483B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 name="Google Shape;108;p18"/>
          <p:cNvSpPr txBox="1"/>
          <p:nvPr/>
        </p:nvSpPr>
        <p:spPr>
          <a:xfrm>
            <a:off x="5273200" y="2884275"/>
            <a:ext cx="3608700" cy="2115300"/>
          </a:xfrm>
          <a:prstGeom prst="rect">
            <a:avLst/>
          </a:prstGeom>
          <a:noFill/>
          <a:ln>
            <a:noFill/>
          </a:ln>
        </p:spPr>
        <p:txBody>
          <a:bodyPr spcFirstLastPara="1" wrap="square" lIns="91425" tIns="91425" rIns="91425" bIns="91425" anchor="t" anchorCtr="0">
            <a:noAutofit/>
          </a:bodyPr>
          <a:lstStyle/>
          <a:p>
            <a:pPr marL="457200" lvl="0" indent="-330200" algn="just" rtl="0">
              <a:lnSpc>
                <a:spcPct val="150000"/>
              </a:lnSpc>
              <a:spcBef>
                <a:spcPts val="0"/>
              </a:spcBef>
              <a:spcAft>
                <a:spcPts val="0"/>
              </a:spcAft>
              <a:buClr>
                <a:schemeClr val="dk1"/>
              </a:buClr>
              <a:buSzPts val="1600"/>
              <a:buFont typeface="Times New Roman"/>
              <a:buAutoNum type="arabicPeriod"/>
            </a:pPr>
            <a:r>
              <a:rPr lang="en" sz="1600">
                <a:solidFill>
                  <a:schemeClr val="dk1"/>
                </a:solidFill>
                <a:latin typeface="Times New Roman"/>
                <a:ea typeface="Times New Roman"/>
                <a:cs typeface="Times New Roman"/>
                <a:sym typeface="Times New Roman"/>
              </a:rPr>
              <a:t>Oil and gas companies</a:t>
            </a:r>
            <a:endParaRPr sz="1600">
              <a:solidFill>
                <a:schemeClr val="dk1"/>
              </a:solidFill>
              <a:latin typeface="Times New Roman"/>
              <a:ea typeface="Times New Roman"/>
              <a:cs typeface="Times New Roman"/>
              <a:sym typeface="Times New Roman"/>
            </a:endParaRPr>
          </a:p>
          <a:p>
            <a:pPr marL="457200" lvl="0" indent="-330200" algn="just" rtl="0">
              <a:lnSpc>
                <a:spcPct val="150000"/>
              </a:lnSpc>
              <a:spcBef>
                <a:spcPts val="0"/>
              </a:spcBef>
              <a:spcAft>
                <a:spcPts val="0"/>
              </a:spcAft>
              <a:buClr>
                <a:schemeClr val="dk1"/>
              </a:buClr>
              <a:buSzPts val="1600"/>
              <a:buFont typeface="Times New Roman"/>
              <a:buAutoNum type="arabicPeriod"/>
            </a:pPr>
            <a:r>
              <a:rPr lang="en" sz="1600">
                <a:solidFill>
                  <a:schemeClr val="dk1"/>
                </a:solidFill>
                <a:latin typeface="Times New Roman"/>
                <a:ea typeface="Times New Roman"/>
                <a:cs typeface="Times New Roman"/>
                <a:sym typeface="Times New Roman"/>
              </a:rPr>
              <a:t>Marine construction works</a:t>
            </a:r>
            <a:endParaRPr sz="1600">
              <a:solidFill>
                <a:schemeClr val="dk1"/>
              </a:solidFill>
              <a:latin typeface="Times New Roman"/>
              <a:ea typeface="Times New Roman"/>
              <a:cs typeface="Times New Roman"/>
              <a:sym typeface="Times New Roman"/>
            </a:endParaRPr>
          </a:p>
          <a:p>
            <a:pPr marL="457200" lvl="0" indent="-330200" algn="just" rtl="0">
              <a:lnSpc>
                <a:spcPct val="150000"/>
              </a:lnSpc>
              <a:spcBef>
                <a:spcPts val="0"/>
              </a:spcBef>
              <a:spcAft>
                <a:spcPts val="0"/>
              </a:spcAft>
              <a:buClr>
                <a:schemeClr val="dk1"/>
              </a:buClr>
              <a:buSzPts val="1600"/>
              <a:buFont typeface="Times New Roman"/>
              <a:buAutoNum type="arabicPeriod"/>
            </a:pPr>
            <a:r>
              <a:rPr lang="en" sz="1600">
                <a:solidFill>
                  <a:schemeClr val="dk1"/>
                </a:solidFill>
                <a:latin typeface="Times New Roman"/>
                <a:ea typeface="Times New Roman"/>
                <a:cs typeface="Times New Roman"/>
                <a:sym typeface="Times New Roman"/>
              </a:rPr>
              <a:t>Military and law enforcements</a:t>
            </a:r>
            <a:endParaRPr sz="1600">
              <a:solidFill>
                <a:schemeClr val="dk1"/>
              </a:solidFill>
              <a:latin typeface="Times New Roman"/>
              <a:ea typeface="Times New Roman"/>
              <a:cs typeface="Times New Roman"/>
              <a:sym typeface="Times New Roman"/>
            </a:endParaRPr>
          </a:p>
          <a:p>
            <a:pPr marL="457200" lvl="0" indent="-330200" algn="just" rtl="0">
              <a:lnSpc>
                <a:spcPct val="150000"/>
              </a:lnSpc>
              <a:spcBef>
                <a:spcPts val="0"/>
              </a:spcBef>
              <a:spcAft>
                <a:spcPts val="0"/>
              </a:spcAft>
              <a:buClr>
                <a:schemeClr val="dk1"/>
              </a:buClr>
              <a:buSzPts val="1600"/>
              <a:buFont typeface="Times New Roman"/>
              <a:buAutoNum type="arabicPeriod"/>
            </a:pPr>
            <a:r>
              <a:rPr lang="en" sz="1600">
                <a:solidFill>
                  <a:schemeClr val="dk1"/>
                </a:solidFill>
                <a:latin typeface="Times New Roman"/>
                <a:ea typeface="Times New Roman"/>
                <a:cs typeface="Times New Roman"/>
                <a:sym typeface="Times New Roman"/>
              </a:rPr>
              <a:t>Underwater research </a:t>
            </a:r>
            <a:endParaRPr sz="1600">
              <a:solidFill>
                <a:schemeClr val="dk1"/>
              </a:solidFill>
              <a:latin typeface="Times New Roman"/>
              <a:ea typeface="Times New Roman"/>
              <a:cs typeface="Times New Roman"/>
              <a:sym typeface="Times New Roman"/>
            </a:endParaRPr>
          </a:p>
          <a:p>
            <a:pPr marL="457200" lvl="0" indent="-330200" algn="just" rtl="0">
              <a:lnSpc>
                <a:spcPct val="150000"/>
              </a:lnSpc>
              <a:spcBef>
                <a:spcPts val="0"/>
              </a:spcBef>
              <a:spcAft>
                <a:spcPts val="0"/>
              </a:spcAft>
              <a:buClr>
                <a:schemeClr val="dk1"/>
              </a:buClr>
              <a:buSzPts val="1600"/>
              <a:buFont typeface="Times New Roman"/>
              <a:buAutoNum type="arabicPeriod"/>
            </a:pPr>
            <a:r>
              <a:rPr lang="en" sz="1600">
                <a:solidFill>
                  <a:schemeClr val="dk1"/>
                </a:solidFill>
                <a:latin typeface="Times New Roman"/>
                <a:ea typeface="Times New Roman"/>
                <a:cs typeface="Times New Roman"/>
                <a:sym typeface="Times New Roman"/>
              </a:rPr>
              <a:t>Shipping</a:t>
            </a:r>
            <a:endParaRPr sz="1600">
              <a:solidFill>
                <a:schemeClr val="dk1"/>
              </a:solidFill>
              <a:latin typeface="Times New Roman"/>
              <a:ea typeface="Times New Roman"/>
              <a:cs typeface="Times New Roman"/>
              <a:sym typeface="Times New Roman"/>
            </a:endParaRPr>
          </a:p>
        </p:txBody>
      </p:sp>
      <p:sp>
        <p:nvSpPr>
          <p:cNvPr id="109" name="Google Shape;109;p18"/>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3"/>
        <p:cNvGrpSpPr/>
        <p:nvPr/>
      </p:nvGrpSpPr>
      <p:grpSpPr>
        <a:xfrm>
          <a:off x="0" y="0"/>
          <a:ext cx="0" cy="0"/>
          <a:chOff x="0" y="0"/>
          <a:chExt cx="0" cy="0"/>
        </a:xfrm>
      </p:grpSpPr>
      <p:sp>
        <p:nvSpPr>
          <p:cNvPr id="114" name="Google Shape;114;p19"/>
          <p:cNvSpPr/>
          <p:nvPr/>
        </p:nvSpPr>
        <p:spPr>
          <a:xfrm>
            <a:off x="846000" y="124325"/>
            <a:ext cx="3975900" cy="8040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115" name="Google Shape;115;p19"/>
          <p:cNvSpPr txBox="1"/>
          <p:nvPr/>
        </p:nvSpPr>
        <p:spPr>
          <a:xfrm>
            <a:off x="1018525" y="218525"/>
            <a:ext cx="38034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dk1"/>
                </a:solidFill>
                <a:latin typeface="Times New Roman"/>
                <a:ea typeface="Times New Roman"/>
                <a:cs typeface="Times New Roman"/>
                <a:sym typeface="Times New Roman"/>
              </a:rPr>
              <a:t>Problem statement</a:t>
            </a:r>
            <a:endParaRPr sz="2800" b="1">
              <a:solidFill>
                <a:schemeClr val="dk1"/>
              </a:solidFill>
              <a:latin typeface="Times New Roman"/>
              <a:ea typeface="Times New Roman"/>
              <a:cs typeface="Times New Roman"/>
              <a:sym typeface="Times New Roman"/>
            </a:endParaRPr>
          </a:p>
        </p:txBody>
      </p:sp>
      <p:sp>
        <p:nvSpPr>
          <p:cNvPr id="116" name="Google Shape;116;p19"/>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117" name="Google Shape;117;p19"/>
          <p:cNvSpPr txBox="1"/>
          <p:nvPr/>
        </p:nvSpPr>
        <p:spPr>
          <a:xfrm>
            <a:off x="846000" y="1127800"/>
            <a:ext cx="7452000" cy="29562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1800" b="1">
                <a:solidFill>
                  <a:srgbClr val="212121"/>
                </a:solidFill>
                <a:latin typeface="Times New Roman"/>
                <a:ea typeface="Times New Roman"/>
                <a:cs typeface="Times New Roman"/>
                <a:sym typeface="Times New Roman"/>
              </a:rPr>
              <a:t>The ROV’s high cost is a prohibitive barrier to entry into application, preventing widespread adoption of ROV for personal, research, and conservation uses. </a:t>
            </a:r>
            <a:endParaRPr sz="1800" b="1">
              <a:solidFill>
                <a:srgbClr val="212121"/>
              </a:solidFill>
              <a:latin typeface="Times New Roman"/>
              <a:ea typeface="Times New Roman"/>
              <a:cs typeface="Times New Roman"/>
              <a:sym typeface="Times New Roman"/>
            </a:endParaRPr>
          </a:p>
          <a:p>
            <a:pPr marL="457200" lvl="0" indent="-342900" algn="just" rtl="0">
              <a:lnSpc>
                <a:spcPct val="200000"/>
              </a:lnSpc>
              <a:spcBef>
                <a:spcPts val="800"/>
              </a:spcBef>
              <a:spcAft>
                <a:spcPts val="0"/>
              </a:spcAft>
              <a:buSzPts val="1800"/>
              <a:buFont typeface="Times New Roman"/>
              <a:buChar char="-"/>
            </a:pPr>
            <a:r>
              <a:rPr lang="en" sz="1800">
                <a:latin typeface="Times New Roman"/>
                <a:ea typeface="Times New Roman"/>
                <a:cs typeface="Times New Roman"/>
                <a:sym typeface="Times New Roman"/>
              </a:rPr>
              <a:t>The current work seeks to address the challenge by coming up with a low cost locally available Remotely Operated Vehicle without compromising its functionality.</a:t>
            </a:r>
            <a:endParaRPr sz="1800">
              <a:solidFill>
                <a:srgbClr val="212121"/>
              </a:solidFill>
              <a:latin typeface="Times New Roman"/>
              <a:ea typeface="Times New Roman"/>
              <a:cs typeface="Times New Roman"/>
              <a:sym typeface="Times New Roman"/>
            </a:endParaRPr>
          </a:p>
        </p:txBody>
      </p:sp>
      <p:sp>
        <p:nvSpPr>
          <p:cNvPr id="118" name="Google Shape;118;p19"/>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0"/>
          <p:cNvSpPr/>
          <p:nvPr/>
        </p:nvSpPr>
        <p:spPr>
          <a:xfrm>
            <a:off x="836250" y="541875"/>
            <a:ext cx="3975900" cy="8040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124" name="Google Shape;124;p20"/>
          <p:cNvSpPr txBox="1"/>
          <p:nvPr/>
        </p:nvSpPr>
        <p:spPr>
          <a:xfrm>
            <a:off x="836275" y="636075"/>
            <a:ext cx="3975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solidFill>
                  <a:schemeClr val="dk1"/>
                </a:solidFill>
                <a:latin typeface="Times New Roman"/>
                <a:ea typeface="Times New Roman"/>
                <a:cs typeface="Times New Roman"/>
                <a:sym typeface="Times New Roman"/>
              </a:rPr>
              <a:t>Objectives</a:t>
            </a:r>
            <a:endParaRPr sz="3000" b="1">
              <a:solidFill>
                <a:schemeClr val="dk1"/>
              </a:solidFill>
              <a:latin typeface="Times New Roman"/>
              <a:ea typeface="Times New Roman"/>
              <a:cs typeface="Times New Roman"/>
              <a:sym typeface="Times New Roman"/>
            </a:endParaRPr>
          </a:p>
        </p:txBody>
      </p:sp>
      <p:sp>
        <p:nvSpPr>
          <p:cNvPr id="125" name="Google Shape;125;p20"/>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126" name="Google Shape;126;p20"/>
          <p:cNvSpPr txBox="1"/>
          <p:nvPr/>
        </p:nvSpPr>
        <p:spPr>
          <a:xfrm>
            <a:off x="846000" y="1569750"/>
            <a:ext cx="7452000" cy="200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2000">
                <a:latin typeface="Times New Roman"/>
                <a:ea typeface="Times New Roman"/>
                <a:cs typeface="Times New Roman"/>
                <a:sym typeface="Times New Roman"/>
              </a:rPr>
              <a:t>The main objective of the current work is to design, fabricate and test a local Remotely Operated Vehicle (ROV) for hull inspection.</a:t>
            </a:r>
            <a:endParaRPr sz="2000">
              <a:latin typeface="Times New Roman"/>
              <a:ea typeface="Times New Roman"/>
              <a:cs typeface="Times New Roman"/>
              <a:sym typeface="Times New Roman"/>
            </a:endParaRPr>
          </a:p>
          <a:p>
            <a:pPr marL="0" lvl="0" indent="0" algn="just" rtl="0">
              <a:lnSpc>
                <a:spcPct val="200000"/>
              </a:lnSpc>
              <a:spcBef>
                <a:spcPts val="1200"/>
              </a:spcBef>
              <a:spcAft>
                <a:spcPts val="800"/>
              </a:spcAft>
              <a:buNone/>
            </a:pPr>
            <a:endParaRPr sz="2000">
              <a:latin typeface="Times New Roman"/>
              <a:ea typeface="Times New Roman"/>
              <a:cs typeface="Times New Roman"/>
              <a:sym typeface="Times New Roman"/>
            </a:endParaRPr>
          </a:p>
        </p:txBody>
      </p:sp>
      <p:sp>
        <p:nvSpPr>
          <p:cNvPr id="127" name="Google Shape;127;p20"/>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1"/>
        <p:cNvGrpSpPr/>
        <p:nvPr/>
      </p:nvGrpSpPr>
      <p:grpSpPr>
        <a:xfrm>
          <a:off x="0" y="0"/>
          <a:ext cx="0" cy="0"/>
          <a:chOff x="0" y="0"/>
          <a:chExt cx="0" cy="0"/>
        </a:xfrm>
      </p:grpSpPr>
      <p:sp>
        <p:nvSpPr>
          <p:cNvPr id="132" name="Google Shape;132;p21"/>
          <p:cNvSpPr/>
          <p:nvPr/>
        </p:nvSpPr>
        <p:spPr>
          <a:xfrm>
            <a:off x="349800" y="282025"/>
            <a:ext cx="4205700" cy="4702500"/>
          </a:xfrm>
          <a:prstGeom prst="rect">
            <a:avLst/>
          </a:prstGeom>
          <a:solidFill>
            <a:srgbClr val="21212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133" name="Google Shape;133;p21"/>
          <p:cNvSpPr/>
          <p:nvPr/>
        </p:nvSpPr>
        <p:spPr>
          <a:xfrm>
            <a:off x="4843400" y="301525"/>
            <a:ext cx="3963900" cy="4663500"/>
          </a:xfrm>
          <a:prstGeom prst="rect">
            <a:avLst/>
          </a:prstGeom>
          <a:solidFill>
            <a:srgbClr val="21212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134" name="Google Shape;134;p21"/>
          <p:cNvSpPr/>
          <p:nvPr/>
        </p:nvSpPr>
        <p:spPr>
          <a:xfrm>
            <a:off x="272325" y="243750"/>
            <a:ext cx="4205700" cy="4663500"/>
          </a:xfrm>
          <a:prstGeom prst="rect">
            <a:avLst/>
          </a:prstGeom>
          <a:solidFill>
            <a:schemeClr val="dk1"/>
          </a:solidFill>
          <a:ln w="38100" cap="flat" cmpd="sng">
            <a:solidFill>
              <a:srgbClr val="3483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135" name="Google Shape;135;p21"/>
          <p:cNvSpPr/>
          <p:nvPr/>
        </p:nvSpPr>
        <p:spPr>
          <a:xfrm>
            <a:off x="4742100" y="243750"/>
            <a:ext cx="3963900" cy="4663500"/>
          </a:xfrm>
          <a:prstGeom prst="rect">
            <a:avLst/>
          </a:prstGeom>
          <a:solidFill>
            <a:schemeClr val="dk1"/>
          </a:solidFill>
          <a:ln w="38100" cap="flat" cmpd="sng">
            <a:solidFill>
              <a:srgbClr val="3483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136" name="Google Shape;136;p21"/>
          <p:cNvSpPr txBox="1"/>
          <p:nvPr/>
        </p:nvSpPr>
        <p:spPr>
          <a:xfrm>
            <a:off x="420675" y="317975"/>
            <a:ext cx="3909000" cy="110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400" b="1">
                <a:solidFill>
                  <a:schemeClr val="lt1"/>
                </a:solidFill>
                <a:latin typeface="Times New Roman"/>
                <a:ea typeface="Times New Roman"/>
                <a:cs typeface="Times New Roman"/>
                <a:sym typeface="Times New Roman"/>
              </a:rPr>
              <a:t>Specific Objectives</a:t>
            </a:r>
            <a:endParaRPr sz="2200">
              <a:solidFill>
                <a:schemeClr val="lt2"/>
              </a:solidFill>
              <a:latin typeface="Times New Roman"/>
              <a:ea typeface="Times New Roman"/>
              <a:cs typeface="Times New Roman"/>
              <a:sym typeface="Times New Roman"/>
            </a:endParaRPr>
          </a:p>
        </p:txBody>
      </p:sp>
      <p:sp>
        <p:nvSpPr>
          <p:cNvPr id="137" name="Google Shape;137;p21"/>
          <p:cNvSpPr txBox="1"/>
          <p:nvPr/>
        </p:nvSpPr>
        <p:spPr>
          <a:xfrm>
            <a:off x="349800" y="1113075"/>
            <a:ext cx="3822300" cy="3755700"/>
          </a:xfrm>
          <a:prstGeom prst="rect">
            <a:avLst/>
          </a:prstGeom>
          <a:noFill/>
          <a:ln>
            <a:noFill/>
          </a:ln>
        </p:spPr>
        <p:txBody>
          <a:bodyPr spcFirstLastPara="1" wrap="square" lIns="91425" tIns="91425" rIns="91425" bIns="91425" anchor="t" anchorCtr="0">
            <a:spAutoFit/>
          </a:bodyPr>
          <a:lstStyle/>
          <a:p>
            <a:pPr marL="0" lvl="0" indent="-69850" algn="l" rtl="0">
              <a:lnSpc>
                <a:spcPct val="150000"/>
              </a:lnSpc>
              <a:spcBef>
                <a:spcPts val="0"/>
              </a:spcBef>
              <a:spcAft>
                <a:spcPts val="0"/>
              </a:spcAft>
              <a:buSzPts val="1100"/>
              <a:buChar char="•"/>
            </a:pPr>
            <a:r>
              <a:rPr lang="en" sz="1600">
                <a:latin typeface="Times New Roman"/>
                <a:ea typeface="Times New Roman"/>
                <a:cs typeface="Times New Roman"/>
                <a:sym typeface="Times New Roman"/>
              </a:rPr>
              <a:t>To select, and analyze  materials for the ROV.</a:t>
            </a:r>
            <a:endParaRPr sz="1600">
              <a:latin typeface="Times New Roman"/>
              <a:ea typeface="Times New Roman"/>
              <a:cs typeface="Times New Roman"/>
              <a:sym typeface="Times New Roman"/>
            </a:endParaRPr>
          </a:p>
          <a:p>
            <a:pPr marL="0" lvl="0" indent="-69850" algn="l" rtl="0">
              <a:lnSpc>
                <a:spcPct val="150000"/>
              </a:lnSpc>
              <a:spcBef>
                <a:spcPts val="0"/>
              </a:spcBef>
              <a:spcAft>
                <a:spcPts val="0"/>
              </a:spcAft>
              <a:buSzPts val="1100"/>
              <a:buChar char="•"/>
            </a:pPr>
            <a:r>
              <a:rPr lang="en" sz="1600">
                <a:latin typeface="Times New Roman"/>
                <a:ea typeface="Times New Roman"/>
                <a:cs typeface="Times New Roman"/>
                <a:sym typeface="Times New Roman"/>
              </a:rPr>
              <a:t>To design and test the structural integrity of the ROV frame.</a:t>
            </a:r>
            <a:endParaRPr sz="1600">
              <a:latin typeface="Times New Roman"/>
              <a:ea typeface="Times New Roman"/>
              <a:cs typeface="Times New Roman"/>
              <a:sym typeface="Times New Roman"/>
            </a:endParaRPr>
          </a:p>
          <a:p>
            <a:pPr marL="0" lvl="0" indent="-69850" algn="l" rtl="0">
              <a:lnSpc>
                <a:spcPct val="150000"/>
              </a:lnSpc>
              <a:spcBef>
                <a:spcPts val="0"/>
              </a:spcBef>
              <a:spcAft>
                <a:spcPts val="0"/>
              </a:spcAft>
              <a:buSzPts val="1100"/>
              <a:buChar char="•"/>
            </a:pPr>
            <a:r>
              <a:rPr lang="en" sz="1600">
                <a:latin typeface="Times New Roman"/>
                <a:ea typeface="Times New Roman"/>
                <a:cs typeface="Times New Roman"/>
                <a:sym typeface="Times New Roman"/>
              </a:rPr>
              <a:t>To design, fabricate and test the control system of a Remotely operated vehicle (ROV).</a:t>
            </a:r>
            <a:endParaRPr sz="1600">
              <a:latin typeface="Times New Roman"/>
              <a:ea typeface="Times New Roman"/>
              <a:cs typeface="Times New Roman"/>
              <a:sym typeface="Times New Roman"/>
            </a:endParaRPr>
          </a:p>
          <a:p>
            <a:pPr marL="0" lvl="0" indent="-69850" algn="l" rtl="0">
              <a:lnSpc>
                <a:spcPct val="150000"/>
              </a:lnSpc>
              <a:spcBef>
                <a:spcPts val="0"/>
              </a:spcBef>
              <a:spcAft>
                <a:spcPts val="0"/>
              </a:spcAft>
              <a:buSzPts val="1100"/>
              <a:buChar char="•"/>
            </a:pPr>
            <a:r>
              <a:rPr lang="en" sz="1600">
                <a:latin typeface="Times New Roman"/>
                <a:ea typeface="Times New Roman"/>
                <a:cs typeface="Times New Roman"/>
                <a:sym typeface="Times New Roman"/>
              </a:rPr>
              <a:t>To achieve maneuverable controls on the ROV’s main axes of motion, X, Y, Z and around an obstacle underwater.</a:t>
            </a:r>
            <a:endParaRPr sz="1600">
              <a:latin typeface="Times New Roman"/>
              <a:ea typeface="Times New Roman"/>
              <a:cs typeface="Times New Roman"/>
              <a:sym typeface="Times New Roman"/>
            </a:endParaRPr>
          </a:p>
        </p:txBody>
      </p:sp>
      <p:sp>
        <p:nvSpPr>
          <p:cNvPr id="138" name="Google Shape;138;p21"/>
          <p:cNvSpPr txBox="1"/>
          <p:nvPr/>
        </p:nvSpPr>
        <p:spPr>
          <a:xfrm>
            <a:off x="4874700" y="432675"/>
            <a:ext cx="3438900" cy="68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400" b="1">
                <a:solidFill>
                  <a:schemeClr val="lt1"/>
                </a:solidFill>
                <a:latin typeface="Times New Roman"/>
                <a:ea typeface="Times New Roman"/>
                <a:cs typeface="Times New Roman"/>
                <a:sym typeface="Times New Roman"/>
              </a:rPr>
              <a:t>Scope</a:t>
            </a:r>
            <a:endParaRPr sz="2200">
              <a:solidFill>
                <a:schemeClr val="lt2"/>
              </a:solidFill>
              <a:latin typeface="Times New Roman"/>
              <a:ea typeface="Times New Roman"/>
              <a:cs typeface="Times New Roman"/>
              <a:sym typeface="Times New Roman"/>
            </a:endParaRPr>
          </a:p>
        </p:txBody>
      </p:sp>
      <p:sp>
        <p:nvSpPr>
          <p:cNvPr id="139" name="Google Shape;139;p21"/>
          <p:cNvSpPr txBox="1"/>
          <p:nvPr/>
        </p:nvSpPr>
        <p:spPr>
          <a:xfrm>
            <a:off x="4874700" y="1347075"/>
            <a:ext cx="3698700" cy="26475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200"/>
              </a:spcBef>
              <a:spcAft>
                <a:spcPts val="0"/>
              </a:spcAft>
              <a:buSzPts val="1600"/>
              <a:buFont typeface="Times New Roman"/>
              <a:buAutoNum type="arabicPeriod"/>
            </a:pPr>
            <a:r>
              <a:rPr lang="en" sz="1600">
                <a:latin typeface="Times New Roman"/>
                <a:ea typeface="Times New Roman"/>
                <a:cs typeface="Times New Roman"/>
                <a:sym typeface="Times New Roman"/>
              </a:rPr>
              <a:t>Design, Fabricate and test the control system of the ROV.</a:t>
            </a:r>
            <a:endParaRPr sz="1600">
              <a:latin typeface="Times New Roman"/>
              <a:ea typeface="Times New Roman"/>
              <a:cs typeface="Times New Roman"/>
              <a:sym typeface="Times New Roman"/>
            </a:endParaRPr>
          </a:p>
          <a:p>
            <a:pPr marL="457200" lvl="0" indent="-330200" algn="l" rtl="0">
              <a:lnSpc>
                <a:spcPct val="150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Maintain structural integrity of the frame.</a:t>
            </a:r>
            <a:endParaRPr sz="1600">
              <a:latin typeface="Times New Roman"/>
              <a:ea typeface="Times New Roman"/>
              <a:cs typeface="Times New Roman"/>
              <a:sym typeface="Times New Roman"/>
            </a:endParaRPr>
          </a:p>
          <a:p>
            <a:pPr marL="457200" lvl="0" indent="-330200" algn="l" rtl="0">
              <a:lnSpc>
                <a:spcPct val="150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Achieving maneuverable controls along the main axes of motion and around an underwater obstacle.</a:t>
            </a:r>
            <a:endParaRPr sz="1600">
              <a:latin typeface="Times New Roman"/>
              <a:ea typeface="Times New Roman"/>
              <a:cs typeface="Times New Roman"/>
              <a:sym typeface="Times New Roman"/>
            </a:endParaRPr>
          </a:p>
        </p:txBody>
      </p:sp>
      <p:sp>
        <p:nvSpPr>
          <p:cNvPr id="140" name="Google Shape;140;p21"/>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 name="Google Shape;141;p21"/>
          <p:cNvSpPr/>
          <p:nvPr/>
        </p:nvSpPr>
        <p:spPr>
          <a:xfrm>
            <a:off x="8970075"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5"/>
        <p:cNvGrpSpPr/>
        <p:nvPr/>
      </p:nvGrpSpPr>
      <p:grpSpPr>
        <a:xfrm>
          <a:off x="0" y="0"/>
          <a:ext cx="0" cy="0"/>
          <a:chOff x="0" y="0"/>
          <a:chExt cx="0" cy="0"/>
        </a:xfrm>
      </p:grpSpPr>
      <p:sp>
        <p:nvSpPr>
          <p:cNvPr id="146" name="Google Shape;146;p22"/>
          <p:cNvSpPr/>
          <p:nvPr/>
        </p:nvSpPr>
        <p:spPr>
          <a:xfrm>
            <a:off x="2779200" y="1916100"/>
            <a:ext cx="4598400" cy="13113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 name="Google Shape;147;p22"/>
          <p:cNvSpPr txBox="1"/>
          <p:nvPr/>
        </p:nvSpPr>
        <p:spPr>
          <a:xfrm>
            <a:off x="3271325" y="2179200"/>
            <a:ext cx="3240000" cy="785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900" b="1">
                <a:solidFill>
                  <a:schemeClr val="dk1"/>
                </a:solidFill>
                <a:latin typeface="Times New Roman"/>
                <a:ea typeface="Times New Roman"/>
                <a:cs typeface="Times New Roman"/>
                <a:sym typeface="Times New Roman"/>
              </a:rPr>
              <a:t>Methodology</a:t>
            </a:r>
            <a:endParaRPr sz="3900" b="1">
              <a:solidFill>
                <a:schemeClr val="dk1"/>
              </a:solidFill>
              <a:latin typeface="Times New Roman"/>
              <a:ea typeface="Times New Roman"/>
              <a:cs typeface="Times New Roman"/>
              <a:sym typeface="Times New Roman"/>
            </a:endParaRPr>
          </a:p>
        </p:txBody>
      </p:sp>
      <p:sp>
        <p:nvSpPr>
          <p:cNvPr id="148" name="Google Shape;148;p22"/>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Comfortaa"/>
                <a:ea typeface="Comfortaa"/>
                <a:cs typeface="Comfortaa"/>
                <a:sym typeface="Comfortaa"/>
              </a:rPr>
              <a:t>@2024</a:t>
            </a:r>
            <a:endParaRPr sz="1200">
              <a:solidFill>
                <a:srgbClr val="212121"/>
              </a:solidFill>
              <a:latin typeface="Comfortaa"/>
              <a:ea typeface="Comfortaa"/>
              <a:cs typeface="Comfortaa"/>
              <a:sym typeface="Comfortaa"/>
            </a:endParaRPr>
          </a:p>
        </p:txBody>
      </p:sp>
      <p:sp>
        <p:nvSpPr>
          <p:cNvPr id="149" name="Google Shape;149;p22"/>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3"/>
        <p:cNvGrpSpPr/>
        <p:nvPr/>
      </p:nvGrpSpPr>
      <p:grpSpPr>
        <a:xfrm>
          <a:off x="0" y="0"/>
          <a:ext cx="0" cy="0"/>
          <a:chOff x="0" y="0"/>
          <a:chExt cx="0" cy="0"/>
        </a:xfrm>
      </p:grpSpPr>
      <p:sp>
        <p:nvSpPr>
          <p:cNvPr id="154" name="Google Shape;154;p23"/>
          <p:cNvSpPr txBox="1"/>
          <p:nvPr/>
        </p:nvSpPr>
        <p:spPr>
          <a:xfrm>
            <a:off x="495950" y="437875"/>
            <a:ext cx="7074600" cy="3059400"/>
          </a:xfrm>
          <a:prstGeom prst="rect">
            <a:avLst/>
          </a:prstGeom>
          <a:noFill/>
          <a:ln>
            <a:noFill/>
          </a:ln>
        </p:spPr>
        <p:txBody>
          <a:bodyPr spcFirstLastPara="1" wrap="square" lIns="91425" tIns="91425" rIns="91425" bIns="91425" anchor="t" anchorCtr="0">
            <a:noAutofit/>
          </a:bodyPr>
          <a:lstStyle/>
          <a:p>
            <a:pPr marL="457200" lvl="0" indent="-387350" algn="just" rtl="0">
              <a:lnSpc>
                <a:spcPct val="150000"/>
              </a:lnSpc>
              <a:spcBef>
                <a:spcPts val="0"/>
              </a:spcBef>
              <a:spcAft>
                <a:spcPts val="0"/>
              </a:spcAft>
              <a:buClr>
                <a:srgbClr val="212121"/>
              </a:buClr>
              <a:buSzPts val="2500"/>
              <a:buFont typeface="Times New Roman"/>
              <a:buAutoNum type="arabicPeriod"/>
            </a:pPr>
            <a:r>
              <a:rPr lang="en" sz="2500" b="1" u="sng">
                <a:solidFill>
                  <a:srgbClr val="212121"/>
                </a:solidFill>
                <a:latin typeface="Times New Roman"/>
                <a:ea typeface="Times New Roman"/>
                <a:cs typeface="Times New Roman"/>
                <a:sym typeface="Times New Roman"/>
              </a:rPr>
              <a:t>Conceptual Design</a:t>
            </a:r>
            <a:endParaRPr sz="2500" b="1" u="sng">
              <a:solidFill>
                <a:srgbClr val="212121"/>
              </a:solidFill>
              <a:latin typeface="Times New Roman"/>
              <a:ea typeface="Times New Roman"/>
              <a:cs typeface="Times New Roman"/>
              <a:sym typeface="Times New Roman"/>
            </a:endParaRPr>
          </a:p>
          <a:p>
            <a:pPr marL="457200" lvl="0" indent="-387350" algn="just" rtl="0">
              <a:lnSpc>
                <a:spcPct val="200000"/>
              </a:lnSpc>
              <a:spcBef>
                <a:spcPts val="0"/>
              </a:spcBef>
              <a:spcAft>
                <a:spcPts val="0"/>
              </a:spcAft>
              <a:buSzPts val="2500"/>
              <a:buFont typeface="Times New Roman"/>
              <a:buChar char="●"/>
            </a:pPr>
            <a:r>
              <a:rPr lang="en" sz="2500">
                <a:latin typeface="Times New Roman"/>
                <a:ea typeface="Times New Roman"/>
                <a:cs typeface="Times New Roman"/>
                <a:sym typeface="Times New Roman"/>
              </a:rPr>
              <a:t>Structural design.</a:t>
            </a:r>
            <a:endParaRPr sz="2500">
              <a:latin typeface="Times New Roman"/>
              <a:ea typeface="Times New Roman"/>
              <a:cs typeface="Times New Roman"/>
              <a:sym typeface="Times New Roman"/>
            </a:endParaRPr>
          </a:p>
          <a:p>
            <a:pPr marL="457200" lvl="0" indent="-387350" algn="just" rtl="0">
              <a:lnSpc>
                <a:spcPct val="200000"/>
              </a:lnSpc>
              <a:spcBef>
                <a:spcPts val="0"/>
              </a:spcBef>
              <a:spcAft>
                <a:spcPts val="0"/>
              </a:spcAft>
              <a:buSzPts val="2500"/>
              <a:buFont typeface="Times New Roman"/>
              <a:buChar char="●"/>
            </a:pPr>
            <a:r>
              <a:rPr lang="en" sz="2500">
                <a:latin typeface="Times New Roman"/>
                <a:ea typeface="Times New Roman"/>
                <a:cs typeface="Times New Roman"/>
                <a:sym typeface="Times New Roman"/>
              </a:rPr>
              <a:t>Propulsion design.</a:t>
            </a:r>
            <a:endParaRPr sz="2500">
              <a:latin typeface="Times New Roman"/>
              <a:ea typeface="Times New Roman"/>
              <a:cs typeface="Times New Roman"/>
              <a:sym typeface="Times New Roman"/>
            </a:endParaRPr>
          </a:p>
          <a:p>
            <a:pPr marL="457200" lvl="0" indent="-387350" algn="just" rtl="0">
              <a:lnSpc>
                <a:spcPct val="200000"/>
              </a:lnSpc>
              <a:spcBef>
                <a:spcPts val="0"/>
              </a:spcBef>
              <a:spcAft>
                <a:spcPts val="0"/>
              </a:spcAft>
              <a:buSzPts val="2500"/>
              <a:buFont typeface="Times New Roman"/>
              <a:buChar char="●"/>
            </a:pPr>
            <a:r>
              <a:rPr lang="en" sz="2500">
                <a:latin typeface="Times New Roman"/>
                <a:ea typeface="Times New Roman"/>
                <a:cs typeface="Times New Roman"/>
                <a:sym typeface="Times New Roman"/>
              </a:rPr>
              <a:t>Electronic and control design.</a:t>
            </a:r>
            <a:endParaRPr sz="2500">
              <a:solidFill>
                <a:srgbClr val="212121"/>
              </a:solidFill>
              <a:latin typeface="Times New Roman"/>
              <a:ea typeface="Times New Roman"/>
              <a:cs typeface="Times New Roman"/>
              <a:sym typeface="Times New Roman"/>
            </a:endParaRPr>
          </a:p>
        </p:txBody>
      </p:sp>
      <p:sp>
        <p:nvSpPr>
          <p:cNvPr id="155" name="Google Shape;155;p23"/>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9"/>
        <p:cNvGrpSpPr/>
        <p:nvPr/>
      </p:nvGrpSpPr>
      <p:grpSpPr>
        <a:xfrm>
          <a:off x="0" y="0"/>
          <a:ext cx="0" cy="0"/>
          <a:chOff x="0" y="0"/>
          <a:chExt cx="0" cy="0"/>
        </a:xfrm>
      </p:grpSpPr>
      <p:sp>
        <p:nvSpPr>
          <p:cNvPr id="160" name="Google Shape;160;p24"/>
          <p:cNvSpPr txBox="1"/>
          <p:nvPr/>
        </p:nvSpPr>
        <p:spPr>
          <a:xfrm>
            <a:off x="198225" y="0"/>
            <a:ext cx="8784600" cy="5143500"/>
          </a:xfrm>
          <a:prstGeom prst="rect">
            <a:avLst/>
          </a:prstGeom>
          <a:noFill/>
          <a:ln>
            <a:noFill/>
          </a:ln>
        </p:spPr>
        <p:txBody>
          <a:bodyPr spcFirstLastPara="1" wrap="square" lIns="91425" tIns="91425" rIns="91425" bIns="91425" anchor="t" anchorCtr="0">
            <a:noAutofit/>
          </a:bodyPr>
          <a:lstStyle/>
          <a:p>
            <a:pPr marL="457200" lvl="0" indent="0" algn="ctr" rtl="0">
              <a:lnSpc>
                <a:spcPct val="200000"/>
              </a:lnSpc>
              <a:spcBef>
                <a:spcPts val="0"/>
              </a:spcBef>
              <a:spcAft>
                <a:spcPts val="0"/>
              </a:spcAft>
              <a:buNone/>
            </a:pPr>
            <a:r>
              <a:rPr lang="en" sz="3200" u="sng">
                <a:latin typeface="Times New Roman"/>
                <a:ea typeface="Times New Roman"/>
                <a:cs typeface="Times New Roman"/>
                <a:sym typeface="Times New Roman"/>
              </a:rPr>
              <a:t>Structural design.</a:t>
            </a:r>
            <a:endParaRPr sz="3200" u="sng">
              <a:latin typeface="Times New Roman"/>
              <a:ea typeface="Times New Roman"/>
              <a:cs typeface="Times New Roman"/>
              <a:sym typeface="Times New Roman"/>
            </a:endParaRPr>
          </a:p>
          <a:p>
            <a:pPr marL="457200" lvl="0" indent="-387350" algn="just" rtl="0">
              <a:lnSpc>
                <a:spcPct val="200000"/>
              </a:lnSpc>
              <a:spcBef>
                <a:spcPts val="800"/>
              </a:spcBef>
              <a:spcAft>
                <a:spcPts val="0"/>
              </a:spcAft>
              <a:buSzPts val="2500"/>
              <a:buFont typeface="Times New Roman"/>
              <a:buChar char="●"/>
            </a:pPr>
            <a:r>
              <a:rPr lang="en" sz="2500">
                <a:latin typeface="Times New Roman"/>
                <a:ea typeface="Times New Roman"/>
                <a:cs typeface="Times New Roman"/>
                <a:sym typeface="Times New Roman"/>
              </a:rPr>
              <a:t>The main parts of the ROV structure include the frame and the electronic sealing compartment.</a:t>
            </a:r>
            <a:endParaRPr sz="2500">
              <a:latin typeface="Times New Roman"/>
              <a:ea typeface="Times New Roman"/>
              <a:cs typeface="Times New Roman"/>
              <a:sym typeface="Times New Roman"/>
            </a:endParaRPr>
          </a:p>
          <a:p>
            <a:pPr marL="457200" lvl="0" indent="-387350" algn="just" rtl="0">
              <a:lnSpc>
                <a:spcPct val="200000"/>
              </a:lnSpc>
              <a:spcBef>
                <a:spcPts val="0"/>
              </a:spcBef>
              <a:spcAft>
                <a:spcPts val="0"/>
              </a:spcAft>
              <a:buSzPts val="2500"/>
              <a:buFont typeface="Times New Roman"/>
              <a:buChar char="●"/>
            </a:pPr>
            <a:r>
              <a:rPr lang="en" sz="2500">
                <a:latin typeface="Times New Roman"/>
                <a:ea typeface="Times New Roman"/>
                <a:cs typeface="Times New Roman"/>
                <a:sym typeface="Times New Roman"/>
              </a:rPr>
              <a:t>This design entailed selecting and analyzing materials for the key components.</a:t>
            </a:r>
            <a:endParaRPr sz="2500">
              <a:latin typeface="Times New Roman"/>
              <a:ea typeface="Times New Roman"/>
              <a:cs typeface="Times New Roman"/>
              <a:sym typeface="Times New Roman"/>
            </a:endParaRPr>
          </a:p>
        </p:txBody>
      </p:sp>
      <p:sp>
        <p:nvSpPr>
          <p:cNvPr id="161" name="Google Shape;161;p24"/>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5"/>
        <p:cNvGrpSpPr/>
        <p:nvPr/>
      </p:nvGrpSpPr>
      <p:grpSpPr>
        <a:xfrm>
          <a:off x="0" y="0"/>
          <a:ext cx="0" cy="0"/>
          <a:chOff x="0" y="0"/>
          <a:chExt cx="0" cy="0"/>
        </a:xfrm>
      </p:grpSpPr>
      <p:graphicFrame>
        <p:nvGraphicFramePr>
          <p:cNvPr id="166" name="Google Shape;166;p25"/>
          <p:cNvGraphicFramePr/>
          <p:nvPr/>
        </p:nvGraphicFramePr>
        <p:xfrm>
          <a:off x="387238" y="791825"/>
          <a:ext cx="8369525" cy="4228400"/>
        </p:xfrm>
        <a:graphic>
          <a:graphicData uri="http://schemas.openxmlformats.org/drawingml/2006/table">
            <a:tbl>
              <a:tblPr>
                <a:noFill/>
                <a:tableStyleId>{E2466D8C-6F8C-410A-86CD-92F3A03C2370}</a:tableStyleId>
              </a:tblPr>
              <a:tblGrid>
                <a:gridCol w="1716850">
                  <a:extLst>
                    <a:ext uri="{9D8B030D-6E8A-4147-A177-3AD203B41FA5}">
                      <a16:colId xmlns:a16="http://schemas.microsoft.com/office/drawing/2014/main" val="20000"/>
                    </a:ext>
                  </a:extLst>
                </a:gridCol>
                <a:gridCol w="3406825">
                  <a:extLst>
                    <a:ext uri="{9D8B030D-6E8A-4147-A177-3AD203B41FA5}">
                      <a16:colId xmlns:a16="http://schemas.microsoft.com/office/drawing/2014/main" val="20001"/>
                    </a:ext>
                  </a:extLst>
                </a:gridCol>
                <a:gridCol w="3245850">
                  <a:extLst>
                    <a:ext uri="{9D8B030D-6E8A-4147-A177-3AD203B41FA5}">
                      <a16:colId xmlns:a16="http://schemas.microsoft.com/office/drawing/2014/main" val="20002"/>
                    </a:ext>
                  </a:extLst>
                </a:gridCol>
              </a:tblGrid>
              <a:tr h="517750">
                <a:tc>
                  <a:txBody>
                    <a:bodyPr/>
                    <a:lstStyle/>
                    <a:p>
                      <a:pPr marL="0" lvl="0" indent="0" algn="l" rtl="0">
                        <a:lnSpc>
                          <a:spcPct val="115000"/>
                        </a:lnSpc>
                        <a:spcBef>
                          <a:spcPts val="1200"/>
                        </a:spcBef>
                        <a:spcAft>
                          <a:spcPts val="0"/>
                        </a:spcAft>
                        <a:buNone/>
                      </a:pPr>
                      <a:r>
                        <a:rPr lang="en" b="1">
                          <a:latin typeface="Times New Roman"/>
                          <a:ea typeface="Times New Roman"/>
                          <a:cs typeface="Times New Roman"/>
                          <a:sym typeface="Times New Roman"/>
                        </a:rPr>
                        <a:t>Material </a:t>
                      </a:r>
                      <a:endParaRPr b="1">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b="1">
                          <a:latin typeface="Times New Roman"/>
                          <a:ea typeface="Times New Roman"/>
                          <a:cs typeface="Times New Roman"/>
                          <a:sym typeface="Times New Roman"/>
                        </a:rPr>
                        <a:t>Pros</a:t>
                      </a:r>
                      <a:endParaRPr b="1">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b="1">
                          <a:latin typeface="Times New Roman"/>
                          <a:ea typeface="Times New Roman"/>
                          <a:cs typeface="Times New Roman"/>
                          <a:sym typeface="Times New Roman"/>
                        </a:rPr>
                        <a:t>Cons</a:t>
                      </a:r>
                      <a:endParaRPr b="1">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78475">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PVC</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Light in weight</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Excellent corrosion resistance</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Susceptible to UV degradation</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Lower strength in comparison to metals</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10725">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Aluminium </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Light in weight</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Good corrosion resistance</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Requires proper anodizing</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10725">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Acrylic Plexiglass </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Corrosion resistant</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Light In weight</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Expensive</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Complex manufacturing processes</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910725">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Stainless steel</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High strength and durable</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Good corrosion resistance</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Heavy</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Expensive</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7" name="Google Shape;167;p25"/>
          <p:cNvSpPr txBox="1"/>
          <p:nvPr/>
        </p:nvSpPr>
        <p:spPr>
          <a:xfrm>
            <a:off x="1993213" y="130650"/>
            <a:ext cx="5157600" cy="55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2400" b="1">
                <a:latin typeface="Times New Roman"/>
                <a:ea typeface="Times New Roman"/>
                <a:cs typeface="Times New Roman"/>
                <a:sym typeface="Times New Roman"/>
              </a:rPr>
              <a:t>Pros and Cons of Proposed Materials</a:t>
            </a:r>
            <a:endParaRPr sz="2400" b="1"/>
          </a:p>
        </p:txBody>
      </p:sp>
      <p:sp>
        <p:nvSpPr>
          <p:cNvPr id="168" name="Google Shape;168;p25"/>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2"/>
        <p:cNvGrpSpPr/>
        <p:nvPr/>
      </p:nvGrpSpPr>
      <p:grpSpPr>
        <a:xfrm>
          <a:off x="0" y="0"/>
          <a:ext cx="0" cy="0"/>
          <a:chOff x="0" y="0"/>
          <a:chExt cx="0" cy="0"/>
        </a:xfrm>
      </p:grpSpPr>
      <p:sp>
        <p:nvSpPr>
          <p:cNvPr id="173" name="Google Shape;173;p26"/>
          <p:cNvSpPr txBox="1"/>
          <p:nvPr/>
        </p:nvSpPr>
        <p:spPr>
          <a:xfrm>
            <a:off x="0" y="0"/>
            <a:ext cx="5495400" cy="5013000"/>
          </a:xfrm>
          <a:prstGeom prst="rect">
            <a:avLst/>
          </a:prstGeom>
          <a:noFill/>
          <a:ln>
            <a:noFill/>
          </a:ln>
        </p:spPr>
        <p:txBody>
          <a:bodyPr spcFirstLastPara="1" wrap="square" lIns="91425" tIns="91425" rIns="91425" bIns="91425" anchor="t" anchorCtr="0">
            <a:noAutofit/>
          </a:bodyPr>
          <a:lstStyle/>
          <a:p>
            <a:pPr marL="0" lvl="0" indent="0" algn="just" rtl="0">
              <a:lnSpc>
                <a:spcPct val="200000"/>
              </a:lnSpc>
              <a:spcBef>
                <a:spcPts val="0"/>
              </a:spcBef>
              <a:spcAft>
                <a:spcPts val="0"/>
              </a:spcAft>
              <a:buNone/>
            </a:pPr>
            <a:r>
              <a:rPr lang="en" sz="3000" u="sng">
                <a:latin typeface="Times New Roman"/>
                <a:ea typeface="Times New Roman"/>
                <a:cs typeface="Times New Roman"/>
                <a:sym typeface="Times New Roman"/>
              </a:rPr>
              <a:t>Propulsion design.</a:t>
            </a:r>
            <a:endParaRPr sz="3000" u="sng">
              <a:latin typeface="Times New Roman"/>
              <a:ea typeface="Times New Roman"/>
              <a:cs typeface="Times New Roman"/>
              <a:sym typeface="Times New Roman"/>
            </a:endParaRPr>
          </a:p>
          <a:p>
            <a:pPr marL="457200" lvl="0" indent="-387350" algn="just" rtl="0">
              <a:lnSpc>
                <a:spcPct val="200000"/>
              </a:lnSpc>
              <a:spcBef>
                <a:spcPts val="800"/>
              </a:spcBef>
              <a:spcAft>
                <a:spcPts val="0"/>
              </a:spcAft>
              <a:buSzPts val="2500"/>
              <a:buFont typeface="Times New Roman"/>
              <a:buChar char="-"/>
            </a:pPr>
            <a:r>
              <a:rPr lang="en" sz="2500">
                <a:latin typeface="Times New Roman"/>
                <a:ea typeface="Times New Roman"/>
                <a:cs typeface="Times New Roman"/>
                <a:sym typeface="Times New Roman"/>
              </a:rPr>
              <a:t>The design entailed analysis of upthrust, buoyancy, drag force, power of the motor and the thrust Force.</a:t>
            </a:r>
            <a:endParaRPr sz="2500">
              <a:latin typeface="Times New Roman"/>
              <a:ea typeface="Times New Roman"/>
              <a:cs typeface="Times New Roman"/>
              <a:sym typeface="Times New Roman"/>
            </a:endParaRPr>
          </a:p>
          <a:p>
            <a:pPr marL="457200" lvl="0" indent="-387350" algn="just" rtl="0">
              <a:lnSpc>
                <a:spcPct val="200000"/>
              </a:lnSpc>
              <a:spcBef>
                <a:spcPts val="0"/>
              </a:spcBef>
              <a:spcAft>
                <a:spcPts val="0"/>
              </a:spcAft>
              <a:buSzPts val="2500"/>
              <a:buFont typeface="Times New Roman"/>
              <a:buChar char="-"/>
            </a:pPr>
            <a:r>
              <a:rPr lang="en" sz="2500">
                <a:latin typeface="Times New Roman"/>
                <a:ea typeface="Times New Roman"/>
                <a:cs typeface="Times New Roman"/>
                <a:sym typeface="Times New Roman"/>
              </a:rPr>
              <a:t>The configuration and placement of the thrusters.</a:t>
            </a:r>
            <a:endParaRPr sz="2500">
              <a:latin typeface="Times New Roman"/>
              <a:ea typeface="Times New Roman"/>
              <a:cs typeface="Times New Roman"/>
              <a:sym typeface="Times New Roman"/>
            </a:endParaRPr>
          </a:p>
        </p:txBody>
      </p:sp>
      <p:pic>
        <p:nvPicPr>
          <p:cNvPr id="174" name="Google Shape;174;p26"/>
          <p:cNvPicPr preferRelativeResize="0"/>
          <p:nvPr/>
        </p:nvPicPr>
        <p:blipFill>
          <a:blip r:embed="rId4">
            <a:alphaModFix/>
          </a:blip>
          <a:stretch>
            <a:fillRect/>
          </a:stretch>
        </p:blipFill>
        <p:spPr>
          <a:xfrm>
            <a:off x="6329750" y="630625"/>
            <a:ext cx="2814249" cy="2814249"/>
          </a:xfrm>
          <a:prstGeom prst="rect">
            <a:avLst/>
          </a:prstGeom>
          <a:noFill/>
          <a:ln>
            <a:noFill/>
          </a:ln>
        </p:spPr>
      </p:pic>
      <p:sp>
        <p:nvSpPr>
          <p:cNvPr id="175" name="Google Shape;175;p26"/>
          <p:cNvSpPr txBox="1"/>
          <p:nvPr/>
        </p:nvSpPr>
        <p:spPr>
          <a:xfrm>
            <a:off x="6329750" y="3083375"/>
            <a:ext cx="1658700" cy="36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lt1"/>
                </a:solidFill>
                <a:latin typeface="Times New Roman"/>
                <a:ea typeface="Times New Roman"/>
                <a:cs typeface="Times New Roman"/>
                <a:sym typeface="Times New Roman"/>
              </a:rPr>
              <a:t>Thruster sample</a:t>
            </a:r>
            <a:endParaRPr sz="1600">
              <a:solidFill>
                <a:schemeClr val="lt1"/>
              </a:solidFill>
              <a:latin typeface="Times New Roman"/>
              <a:ea typeface="Times New Roman"/>
              <a:cs typeface="Times New Roman"/>
              <a:sym typeface="Times New Roman"/>
            </a:endParaRPr>
          </a:p>
        </p:txBody>
      </p:sp>
      <p:sp>
        <p:nvSpPr>
          <p:cNvPr id="176" name="Google Shape;176;p26"/>
          <p:cNvSpPr/>
          <p:nvPr/>
        </p:nvSpPr>
        <p:spPr>
          <a:xfrm>
            <a:off x="0" y="0"/>
            <a:ext cx="182100" cy="206100"/>
          </a:xfrm>
          <a:prstGeom prst="ellipse">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0"/>
        <p:cNvGrpSpPr/>
        <p:nvPr/>
      </p:nvGrpSpPr>
      <p:grpSpPr>
        <a:xfrm>
          <a:off x="0" y="0"/>
          <a:ext cx="0" cy="0"/>
          <a:chOff x="0" y="0"/>
          <a:chExt cx="0" cy="0"/>
        </a:xfrm>
      </p:grpSpPr>
      <p:sp>
        <p:nvSpPr>
          <p:cNvPr id="181" name="Google Shape;181;p27"/>
          <p:cNvSpPr txBox="1"/>
          <p:nvPr/>
        </p:nvSpPr>
        <p:spPr>
          <a:xfrm>
            <a:off x="0" y="0"/>
            <a:ext cx="5404500" cy="5143500"/>
          </a:xfrm>
          <a:prstGeom prst="rect">
            <a:avLst/>
          </a:prstGeom>
          <a:noFill/>
          <a:ln>
            <a:noFill/>
          </a:ln>
        </p:spPr>
        <p:txBody>
          <a:bodyPr spcFirstLastPara="1" wrap="square" lIns="91425" tIns="91425" rIns="91425" bIns="91425" anchor="t" anchorCtr="0">
            <a:noAutofit/>
          </a:bodyPr>
          <a:lstStyle/>
          <a:p>
            <a:pPr marL="457200" lvl="0" indent="-419100" algn="just" rtl="0">
              <a:lnSpc>
                <a:spcPct val="200000"/>
              </a:lnSpc>
              <a:spcBef>
                <a:spcPts val="0"/>
              </a:spcBef>
              <a:spcAft>
                <a:spcPts val="0"/>
              </a:spcAft>
              <a:buSzPts val="3000"/>
              <a:buFont typeface="Times New Roman"/>
              <a:buChar char="●"/>
            </a:pPr>
            <a:r>
              <a:rPr lang="en" sz="3000" u="sng">
                <a:latin typeface="Times New Roman"/>
                <a:ea typeface="Times New Roman"/>
                <a:cs typeface="Times New Roman"/>
                <a:sym typeface="Times New Roman"/>
              </a:rPr>
              <a:t>Electrical &amp; control design.</a:t>
            </a:r>
            <a:endParaRPr sz="3000" u="sng">
              <a:latin typeface="Times New Roman"/>
              <a:ea typeface="Times New Roman"/>
              <a:cs typeface="Times New Roman"/>
              <a:sym typeface="Times New Roman"/>
            </a:endParaRPr>
          </a:p>
          <a:p>
            <a:pPr marL="457200" lvl="0" indent="-419100" algn="just" rtl="0">
              <a:lnSpc>
                <a:spcPct val="200000"/>
              </a:lnSpc>
              <a:spcBef>
                <a:spcPts val="0"/>
              </a:spcBef>
              <a:spcAft>
                <a:spcPts val="0"/>
              </a:spcAft>
              <a:buSzPts val="3000"/>
              <a:buFont typeface="Times New Roman"/>
              <a:buChar char="-"/>
            </a:pPr>
            <a:r>
              <a:rPr lang="en" sz="3000">
                <a:latin typeface="Times New Roman"/>
                <a:ea typeface="Times New Roman"/>
                <a:cs typeface="Times New Roman"/>
                <a:sym typeface="Times New Roman"/>
              </a:rPr>
              <a:t>Electrical devices</a:t>
            </a:r>
            <a:endParaRPr sz="3000">
              <a:latin typeface="Times New Roman"/>
              <a:ea typeface="Times New Roman"/>
              <a:cs typeface="Times New Roman"/>
              <a:sym typeface="Times New Roman"/>
            </a:endParaRPr>
          </a:p>
          <a:p>
            <a:pPr marL="457200" lvl="0" indent="-419100" algn="just" rtl="0">
              <a:lnSpc>
                <a:spcPct val="200000"/>
              </a:lnSpc>
              <a:spcBef>
                <a:spcPts val="0"/>
              </a:spcBef>
              <a:spcAft>
                <a:spcPts val="0"/>
              </a:spcAft>
              <a:buSzPts val="3000"/>
              <a:buFont typeface="Times New Roman"/>
              <a:buChar char="-"/>
            </a:pPr>
            <a:r>
              <a:rPr lang="en" sz="3000">
                <a:latin typeface="Times New Roman"/>
                <a:ea typeface="Times New Roman"/>
                <a:cs typeface="Times New Roman"/>
                <a:sym typeface="Times New Roman"/>
              </a:rPr>
              <a:t>Power systems</a:t>
            </a:r>
            <a:endParaRPr sz="3000">
              <a:latin typeface="Times New Roman"/>
              <a:ea typeface="Times New Roman"/>
              <a:cs typeface="Times New Roman"/>
              <a:sym typeface="Times New Roman"/>
            </a:endParaRPr>
          </a:p>
          <a:p>
            <a:pPr marL="457200" lvl="0" indent="-419100" algn="just" rtl="0">
              <a:lnSpc>
                <a:spcPct val="200000"/>
              </a:lnSpc>
              <a:spcBef>
                <a:spcPts val="0"/>
              </a:spcBef>
              <a:spcAft>
                <a:spcPts val="0"/>
              </a:spcAft>
              <a:buSzPts val="3000"/>
              <a:buFont typeface="Times New Roman"/>
              <a:buChar char="-"/>
            </a:pPr>
            <a:r>
              <a:rPr lang="en" sz="3000">
                <a:latin typeface="Times New Roman"/>
                <a:ea typeface="Times New Roman"/>
                <a:cs typeface="Times New Roman"/>
                <a:sym typeface="Times New Roman"/>
              </a:rPr>
              <a:t>Control and actuation system</a:t>
            </a:r>
            <a:endParaRPr sz="3000">
              <a:latin typeface="Times New Roman"/>
              <a:ea typeface="Times New Roman"/>
              <a:cs typeface="Times New Roman"/>
              <a:sym typeface="Times New Roman"/>
            </a:endParaRPr>
          </a:p>
          <a:p>
            <a:pPr marL="457200" lvl="0" indent="-419100" algn="just" rtl="0">
              <a:lnSpc>
                <a:spcPct val="200000"/>
              </a:lnSpc>
              <a:spcBef>
                <a:spcPts val="0"/>
              </a:spcBef>
              <a:spcAft>
                <a:spcPts val="0"/>
              </a:spcAft>
              <a:buSzPts val="3000"/>
              <a:buFont typeface="Times New Roman"/>
              <a:buChar char="-"/>
            </a:pPr>
            <a:r>
              <a:rPr lang="en" sz="3000">
                <a:latin typeface="Times New Roman"/>
                <a:ea typeface="Times New Roman"/>
                <a:cs typeface="Times New Roman"/>
                <a:sym typeface="Times New Roman"/>
              </a:rPr>
              <a:t>Visual feedback</a:t>
            </a:r>
            <a:endParaRPr sz="3000">
              <a:latin typeface="Times New Roman"/>
              <a:ea typeface="Times New Roman"/>
              <a:cs typeface="Times New Roman"/>
              <a:sym typeface="Times New Roman"/>
            </a:endParaRPr>
          </a:p>
        </p:txBody>
      </p:sp>
      <p:pic>
        <p:nvPicPr>
          <p:cNvPr id="182" name="Google Shape;182;p27"/>
          <p:cNvPicPr preferRelativeResize="0"/>
          <p:nvPr/>
        </p:nvPicPr>
        <p:blipFill>
          <a:blip r:embed="rId4">
            <a:alphaModFix/>
          </a:blip>
          <a:stretch>
            <a:fillRect/>
          </a:stretch>
        </p:blipFill>
        <p:spPr>
          <a:xfrm>
            <a:off x="5120850" y="165625"/>
            <a:ext cx="2331625" cy="1746475"/>
          </a:xfrm>
          <a:prstGeom prst="rect">
            <a:avLst/>
          </a:prstGeom>
          <a:noFill/>
          <a:ln>
            <a:noFill/>
          </a:ln>
        </p:spPr>
      </p:pic>
      <p:pic>
        <p:nvPicPr>
          <p:cNvPr id="183" name="Google Shape;183;p27"/>
          <p:cNvPicPr preferRelativeResize="0"/>
          <p:nvPr/>
        </p:nvPicPr>
        <p:blipFill rotWithShape="1">
          <a:blip r:embed="rId5">
            <a:alphaModFix/>
          </a:blip>
          <a:srcRect l="6689" t="14641" r="7325" b="17576"/>
          <a:stretch/>
        </p:blipFill>
        <p:spPr>
          <a:xfrm>
            <a:off x="6270450" y="1826650"/>
            <a:ext cx="2634900" cy="878300"/>
          </a:xfrm>
          <a:prstGeom prst="rect">
            <a:avLst/>
          </a:prstGeom>
          <a:noFill/>
          <a:ln>
            <a:noFill/>
          </a:ln>
        </p:spPr>
      </p:pic>
      <p:pic>
        <p:nvPicPr>
          <p:cNvPr id="184" name="Google Shape;184;p27"/>
          <p:cNvPicPr preferRelativeResize="0"/>
          <p:nvPr/>
        </p:nvPicPr>
        <p:blipFill rotWithShape="1">
          <a:blip r:embed="rId6">
            <a:alphaModFix/>
          </a:blip>
          <a:srcRect t="16888" b="17777"/>
          <a:stretch/>
        </p:blipFill>
        <p:spPr>
          <a:xfrm>
            <a:off x="5913675" y="3280175"/>
            <a:ext cx="2143125" cy="1400175"/>
          </a:xfrm>
          <a:prstGeom prst="rect">
            <a:avLst/>
          </a:prstGeom>
          <a:noFill/>
          <a:ln>
            <a:noFill/>
          </a:ln>
        </p:spPr>
      </p:pic>
      <p:sp>
        <p:nvSpPr>
          <p:cNvPr id="185" name="Google Shape;185;p27"/>
          <p:cNvSpPr txBox="1"/>
          <p:nvPr/>
        </p:nvSpPr>
        <p:spPr>
          <a:xfrm>
            <a:off x="7310200" y="480300"/>
            <a:ext cx="1787400" cy="38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lt1"/>
                </a:solidFill>
                <a:latin typeface="Times New Roman"/>
                <a:ea typeface="Times New Roman"/>
                <a:cs typeface="Times New Roman"/>
                <a:sym typeface="Times New Roman"/>
              </a:rPr>
              <a:t>Arduino nano</a:t>
            </a:r>
            <a:endParaRPr sz="1600">
              <a:solidFill>
                <a:schemeClr val="lt1"/>
              </a:solidFill>
              <a:latin typeface="Times New Roman"/>
              <a:ea typeface="Times New Roman"/>
              <a:cs typeface="Times New Roman"/>
              <a:sym typeface="Times New Roman"/>
            </a:endParaRPr>
          </a:p>
        </p:txBody>
      </p:sp>
      <p:sp>
        <p:nvSpPr>
          <p:cNvPr id="186" name="Google Shape;186;p27"/>
          <p:cNvSpPr txBox="1"/>
          <p:nvPr/>
        </p:nvSpPr>
        <p:spPr>
          <a:xfrm>
            <a:off x="6459600" y="2704950"/>
            <a:ext cx="1787400" cy="38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lt1"/>
                </a:solidFill>
                <a:latin typeface="Times New Roman"/>
                <a:ea typeface="Times New Roman"/>
                <a:cs typeface="Times New Roman"/>
                <a:sym typeface="Times New Roman"/>
              </a:rPr>
              <a:t>Pressure sensors</a:t>
            </a:r>
            <a:endParaRPr sz="1600">
              <a:solidFill>
                <a:schemeClr val="lt1"/>
              </a:solidFill>
              <a:latin typeface="Times New Roman"/>
              <a:ea typeface="Times New Roman"/>
              <a:cs typeface="Times New Roman"/>
              <a:sym typeface="Times New Roman"/>
            </a:endParaRPr>
          </a:p>
        </p:txBody>
      </p:sp>
      <p:sp>
        <p:nvSpPr>
          <p:cNvPr id="187" name="Google Shape;187;p27"/>
          <p:cNvSpPr txBox="1"/>
          <p:nvPr/>
        </p:nvSpPr>
        <p:spPr>
          <a:xfrm>
            <a:off x="4811825" y="4404825"/>
            <a:ext cx="1787400" cy="38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lt1"/>
                </a:solidFill>
                <a:latin typeface="Times New Roman"/>
                <a:ea typeface="Times New Roman"/>
                <a:cs typeface="Times New Roman"/>
                <a:sym typeface="Times New Roman"/>
              </a:rPr>
              <a:t>Ethernet cable</a:t>
            </a:r>
            <a:endParaRPr sz="1600">
              <a:solidFill>
                <a:schemeClr val="lt1"/>
              </a:solidFill>
              <a:latin typeface="Times New Roman"/>
              <a:ea typeface="Times New Roman"/>
              <a:cs typeface="Times New Roman"/>
              <a:sym typeface="Times New Roman"/>
            </a:endParaRPr>
          </a:p>
        </p:txBody>
      </p:sp>
      <p:sp>
        <p:nvSpPr>
          <p:cNvPr id="188" name="Google Shape;188;p27"/>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2"/>
        <p:cNvGrpSpPr/>
        <p:nvPr/>
      </p:nvGrpSpPr>
      <p:grpSpPr>
        <a:xfrm>
          <a:off x="0" y="0"/>
          <a:ext cx="0" cy="0"/>
          <a:chOff x="0" y="0"/>
          <a:chExt cx="0" cy="0"/>
        </a:xfrm>
      </p:grpSpPr>
      <p:sp>
        <p:nvSpPr>
          <p:cNvPr id="193" name="Google Shape;193;p28"/>
          <p:cNvSpPr txBox="1"/>
          <p:nvPr/>
        </p:nvSpPr>
        <p:spPr>
          <a:xfrm>
            <a:off x="2775900" y="0"/>
            <a:ext cx="3592200" cy="63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chemeClr val="lt1"/>
                </a:solidFill>
                <a:latin typeface="Times New Roman"/>
                <a:ea typeface="Times New Roman"/>
                <a:cs typeface="Times New Roman"/>
                <a:sym typeface="Times New Roman"/>
              </a:rPr>
              <a:t>Electronic Architecture</a:t>
            </a:r>
            <a:endParaRPr sz="2800">
              <a:solidFill>
                <a:schemeClr val="lt1"/>
              </a:solidFill>
              <a:latin typeface="Times New Roman"/>
              <a:ea typeface="Times New Roman"/>
              <a:cs typeface="Times New Roman"/>
              <a:sym typeface="Times New Roman"/>
            </a:endParaRPr>
          </a:p>
        </p:txBody>
      </p:sp>
      <p:pic>
        <p:nvPicPr>
          <p:cNvPr id="194" name="Google Shape;194;p28"/>
          <p:cNvPicPr preferRelativeResize="0"/>
          <p:nvPr/>
        </p:nvPicPr>
        <p:blipFill>
          <a:blip r:embed="rId4">
            <a:alphaModFix/>
          </a:blip>
          <a:stretch>
            <a:fillRect/>
          </a:stretch>
        </p:blipFill>
        <p:spPr>
          <a:xfrm>
            <a:off x="593948" y="634200"/>
            <a:ext cx="7556215" cy="4509299"/>
          </a:xfrm>
          <a:prstGeom prst="rect">
            <a:avLst/>
          </a:prstGeom>
          <a:noFill/>
          <a:ln>
            <a:noFill/>
          </a:ln>
        </p:spPr>
      </p:pic>
      <p:sp>
        <p:nvSpPr>
          <p:cNvPr id="195" name="Google Shape;195;p28"/>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9"/>
        <p:cNvGrpSpPr/>
        <p:nvPr/>
      </p:nvGrpSpPr>
      <p:grpSpPr>
        <a:xfrm>
          <a:off x="0" y="0"/>
          <a:ext cx="0" cy="0"/>
          <a:chOff x="0" y="0"/>
          <a:chExt cx="0" cy="0"/>
        </a:xfrm>
      </p:grpSpPr>
      <p:sp>
        <p:nvSpPr>
          <p:cNvPr id="200" name="Google Shape;200;p29"/>
          <p:cNvSpPr txBox="1"/>
          <p:nvPr/>
        </p:nvSpPr>
        <p:spPr>
          <a:xfrm>
            <a:off x="620250" y="524450"/>
            <a:ext cx="7903500" cy="38634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2400" b="1" u="sng">
                <a:solidFill>
                  <a:srgbClr val="212121"/>
                </a:solidFill>
                <a:latin typeface="Times New Roman"/>
                <a:ea typeface="Times New Roman"/>
                <a:cs typeface="Times New Roman"/>
                <a:sym typeface="Times New Roman"/>
              </a:rPr>
              <a:t>2. Fabrication and Assembly</a:t>
            </a:r>
            <a:endParaRPr sz="2400" b="1" u="sng">
              <a:solidFill>
                <a:srgbClr val="212121"/>
              </a:solidFill>
              <a:latin typeface="Times New Roman"/>
              <a:ea typeface="Times New Roman"/>
              <a:cs typeface="Times New Roman"/>
              <a:sym typeface="Times New Roman"/>
            </a:endParaRPr>
          </a:p>
          <a:p>
            <a:pPr marL="457200" lvl="0" indent="-381000" algn="just" rtl="0">
              <a:lnSpc>
                <a:spcPct val="150000"/>
              </a:lnSpc>
              <a:spcBef>
                <a:spcPts val="800"/>
              </a:spcBef>
              <a:spcAft>
                <a:spcPts val="800"/>
              </a:spcAft>
              <a:buSzPts val="2400"/>
              <a:buFont typeface="Times New Roman"/>
              <a:buChar char="●"/>
            </a:pPr>
            <a:r>
              <a:rPr lang="en" sz="2400">
                <a:latin typeface="Times New Roman"/>
                <a:ea typeface="Times New Roman"/>
                <a:cs typeface="Times New Roman"/>
                <a:sym typeface="Times New Roman"/>
              </a:rPr>
              <a:t>Implementing the ROV design will follow a series of processes where it will involve the acquiring of materials, parts, electrical components and integration of the software and hardware, as well as assembly of the ROV.</a:t>
            </a:r>
            <a:endParaRPr sz="3000">
              <a:solidFill>
                <a:srgbClr val="212121"/>
              </a:solidFill>
              <a:latin typeface="Comfortaa"/>
              <a:ea typeface="Comfortaa"/>
              <a:cs typeface="Comfortaa"/>
              <a:sym typeface="Comfortaa"/>
            </a:endParaRPr>
          </a:p>
        </p:txBody>
      </p:sp>
      <p:sp>
        <p:nvSpPr>
          <p:cNvPr id="201" name="Google Shape;201;p29"/>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5"/>
        <p:cNvGrpSpPr/>
        <p:nvPr/>
      </p:nvGrpSpPr>
      <p:grpSpPr>
        <a:xfrm>
          <a:off x="0" y="0"/>
          <a:ext cx="0" cy="0"/>
          <a:chOff x="0" y="0"/>
          <a:chExt cx="0" cy="0"/>
        </a:xfrm>
      </p:grpSpPr>
      <p:sp>
        <p:nvSpPr>
          <p:cNvPr id="206" name="Google Shape;206;p30"/>
          <p:cNvSpPr txBox="1"/>
          <p:nvPr/>
        </p:nvSpPr>
        <p:spPr>
          <a:xfrm>
            <a:off x="1251125" y="820200"/>
            <a:ext cx="7238100" cy="27312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2400">
                <a:solidFill>
                  <a:srgbClr val="212121"/>
                </a:solidFill>
                <a:latin typeface="Times New Roman"/>
                <a:ea typeface="Times New Roman"/>
                <a:cs typeface="Times New Roman"/>
                <a:sym typeface="Times New Roman"/>
              </a:rPr>
              <a:t>The ROV is tested to ensure:</a:t>
            </a:r>
            <a:endParaRPr sz="2400">
              <a:solidFill>
                <a:srgbClr val="212121"/>
              </a:solidFill>
              <a:latin typeface="Times New Roman"/>
              <a:ea typeface="Times New Roman"/>
              <a:cs typeface="Times New Roman"/>
              <a:sym typeface="Times New Roman"/>
            </a:endParaRPr>
          </a:p>
          <a:p>
            <a:pPr marL="457200" lvl="0" indent="-381000" algn="just" rtl="0">
              <a:lnSpc>
                <a:spcPct val="150000"/>
              </a:lnSpc>
              <a:spcBef>
                <a:spcPts val="800"/>
              </a:spcBef>
              <a:spcAft>
                <a:spcPts val="0"/>
              </a:spcAft>
              <a:buSzPts val="2400"/>
              <a:buFont typeface="Times New Roman"/>
              <a:buChar char="●"/>
            </a:pPr>
            <a:r>
              <a:rPr lang="en" sz="2400">
                <a:latin typeface="Times New Roman"/>
                <a:ea typeface="Times New Roman"/>
                <a:cs typeface="Times New Roman"/>
                <a:sym typeface="Times New Roman"/>
              </a:rPr>
              <a:t>The functionality of the designed control system of the ROV </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 sz="2400">
                <a:latin typeface="Times New Roman"/>
                <a:ea typeface="Times New Roman"/>
                <a:cs typeface="Times New Roman"/>
                <a:sym typeface="Times New Roman"/>
              </a:rPr>
              <a:t>Ability to achieve maneuverability in the main axes of motion and around an obstacle.</a:t>
            </a:r>
            <a:br>
              <a:rPr lang="en"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a:p>
            <a:pPr marL="914400" lvl="0" indent="0" algn="l" rtl="0">
              <a:lnSpc>
                <a:spcPct val="150000"/>
              </a:lnSpc>
              <a:spcBef>
                <a:spcPts val="0"/>
              </a:spcBef>
              <a:spcAft>
                <a:spcPts val="0"/>
              </a:spcAft>
              <a:buNone/>
            </a:pPr>
            <a:endParaRPr sz="2400">
              <a:latin typeface="Times New Roman"/>
              <a:ea typeface="Times New Roman"/>
              <a:cs typeface="Times New Roman"/>
              <a:sym typeface="Times New Roman"/>
            </a:endParaRPr>
          </a:p>
        </p:txBody>
      </p:sp>
      <p:sp>
        <p:nvSpPr>
          <p:cNvPr id="207" name="Google Shape;207;p30"/>
          <p:cNvSpPr txBox="1"/>
          <p:nvPr/>
        </p:nvSpPr>
        <p:spPr>
          <a:xfrm>
            <a:off x="3836750" y="0"/>
            <a:ext cx="1751700" cy="6465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800"/>
              </a:spcAft>
              <a:buNone/>
            </a:pPr>
            <a:r>
              <a:rPr lang="en" sz="3000" b="1" u="sng">
                <a:solidFill>
                  <a:schemeClr val="lt1"/>
                </a:solidFill>
                <a:latin typeface="Times New Roman"/>
                <a:ea typeface="Times New Roman"/>
                <a:cs typeface="Times New Roman"/>
                <a:sym typeface="Times New Roman"/>
              </a:rPr>
              <a:t>3. Testing</a:t>
            </a:r>
            <a:endParaRPr sz="3000"/>
          </a:p>
        </p:txBody>
      </p:sp>
      <p:sp>
        <p:nvSpPr>
          <p:cNvPr id="208" name="Google Shape;208;p30"/>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2"/>
        <p:cNvGrpSpPr/>
        <p:nvPr/>
      </p:nvGrpSpPr>
      <p:grpSpPr>
        <a:xfrm>
          <a:off x="0" y="0"/>
          <a:ext cx="0" cy="0"/>
          <a:chOff x="0" y="0"/>
          <a:chExt cx="0" cy="0"/>
        </a:xfrm>
      </p:grpSpPr>
      <p:sp>
        <p:nvSpPr>
          <p:cNvPr id="213" name="Google Shape;213;p31"/>
          <p:cNvSpPr txBox="1"/>
          <p:nvPr/>
        </p:nvSpPr>
        <p:spPr>
          <a:xfrm>
            <a:off x="5071800" y="4127700"/>
            <a:ext cx="4072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lt1"/>
                </a:solidFill>
                <a:latin typeface="Times New Roman"/>
                <a:ea typeface="Times New Roman"/>
                <a:cs typeface="Times New Roman"/>
                <a:sym typeface="Times New Roman"/>
              </a:rPr>
              <a:t>Figure 1: showing </a:t>
            </a:r>
            <a:r>
              <a:rPr lang="en" sz="1600">
                <a:solidFill>
                  <a:srgbClr val="333333"/>
                </a:solidFill>
                <a:highlight>
                  <a:srgbClr val="FFFCF0"/>
                </a:highlight>
                <a:latin typeface="Times New Roman"/>
                <a:ea typeface="Times New Roman"/>
                <a:cs typeface="Times New Roman"/>
                <a:sym typeface="Times New Roman"/>
              </a:rPr>
              <a:t>Movements of the ROV: (</a:t>
            </a:r>
            <a:r>
              <a:rPr lang="en" sz="1600" b="1">
                <a:solidFill>
                  <a:srgbClr val="333333"/>
                </a:solidFill>
                <a:highlight>
                  <a:srgbClr val="FFFCF0"/>
                </a:highlight>
                <a:latin typeface="Times New Roman"/>
                <a:ea typeface="Times New Roman"/>
                <a:cs typeface="Times New Roman"/>
                <a:sym typeface="Times New Roman"/>
              </a:rPr>
              <a:t>a</a:t>
            </a:r>
            <a:r>
              <a:rPr lang="en" sz="1600">
                <a:solidFill>
                  <a:srgbClr val="333333"/>
                </a:solidFill>
                <a:highlight>
                  <a:srgbClr val="FFFCF0"/>
                </a:highlight>
                <a:latin typeface="Times New Roman"/>
                <a:ea typeface="Times New Roman"/>
                <a:cs typeface="Times New Roman"/>
                <a:sym typeface="Times New Roman"/>
              </a:rPr>
              <a:t>) lateral; (</a:t>
            </a:r>
            <a:r>
              <a:rPr lang="en" sz="1600" b="1">
                <a:solidFill>
                  <a:srgbClr val="333333"/>
                </a:solidFill>
                <a:highlight>
                  <a:srgbClr val="FFFCF0"/>
                </a:highlight>
                <a:latin typeface="Times New Roman"/>
                <a:ea typeface="Times New Roman"/>
                <a:cs typeface="Times New Roman"/>
                <a:sym typeface="Times New Roman"/>
              </a:rPr>
              <a:t>b</a:t>
            </a:r>
            <a:r>
              <a:rPr lang="en" sz="1600">
                <a:solidFill>
                  <a:srgbClr val="333333"/>
                </a:solidFill>
                <a:highlight>
                  <a:srgbClr val="FFFCF0"/>
                </a:highlight>
                <a:latin typeface="Times New Roman"/>
                <a:ea typeface="Times New Roman"/>
                <a:cs typeface="Times New Roman"/>
                <a:sym typeface="Times New Roman"/>
              </a:rPr>
              <a:t>) ascent and descent; and (</a:t>
            </a:r>
            <a:r>
              <a:rPr lang="en" sz="1600" b="1">
                <a:solidFill>
                  <a:srgbClr val="333333"/>
                </a:solidFill>
                <a:highlight>
                  <a:srgbClr val="FFFCF0"/>
                </a:highlight>
                <a:latin typeface="Times New Roman"/>
                <a:ea typeface="Times New Roman"/>
                <a:cs typeface="Times New Roman"/>
                <a:sym typeface="Times New Roman"/>
              </a:rPr>
              <a:t>c</a:t>
            </a:r>
            <a:r>
              <a:rPr lang="en" sz="1600">
                <a:solidFill>
                  <a:srgbClr val="333333"/>
                </a:solidFill>
                <a:highlight>
                  <a:srgbClr val="FFFCF0"/>
                </a:highlight>
                <a:latin typeface="Times New Roman"/>
                <a:ea typeface="Times New Roman"/>
                <a:cs typeface="Times New Roman"/>
                <a:sym typeface="Times New Roman"/>
              </a:rPr>
              <a:t>) rotation.</a:t>
            </a:r>
            <a:endParaRPr sz="1600">
              <a:solidFill>
                <a:schemeClr val="lt1"/>
              </a:solidFill>
              <a:latin typeface="Times New Roman"/>
              <a:ea typeface="Times New Roman"/>
              <a:cs typeface="Times New Roman"/>
              <a:sym typeface="Times New Roman"/>
            </a:endParaRPr>
          </a:p>
        </p:txBody>
      </p:sp>
      <p:pic>
        <p:nvPicPr>
          <p:cNvPr id="214" name="Google Shape;214;p31"/>
          <p:cNvPicPr preferRelativeResize="0"/>
          <p:nvPr/>
        </p:nvPicPr>
        <p:blipFill>
          <a:blip r:embed="rId3">
            <a:alphaModFix/>
          </a:blip>
          <a:stretch>
            <a:fillRect/>
          </a:stretch>
        </p:blipFill>
        <p:spPr>
          <a:xfrm>
            <a:off x="0" y="0"/>
            <a:ext cx="9144000" cy="4108537"/>
          </a:xfrm>
          <a:prstGeom prst="rect">
            <a:avLst/>
          </a:prstGeom>
          <a:noFill/>
          <a:ln>
            <a:noFill/>
          </a:ln>
        </p:spPr>
      </p:pic>
      <p:sp>
        <p:nvSpPr>
          <p:cNvPr id="215" name="Google Shape;215;p31"/>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9"/>
        <p:cNvGrpSpPr/>
        <p:nvPr/>
      </p:nvGrpSpPr>
      <p:grpSpPr>
        <a:xfrm>
          <a:off x="0" y="0"/>
          <a:ext cx="0" cy="0"/>
          <a:chOff x="0" y="0"/>
          <a:chExt cx="0" cy="0"/>
        </a:xfrm>
      </p:grpSpPr>
      <p:sp>
        <p:nvSpPr>
          <p:cNvPr id="220" name="Google Shape;220;p32"/>
          <p:cNvSpPr/>
          <p:nvPr/>
        </p:nvSpPr>
        <p:spPr>
          <a:xfrm>
            <a:off x="2584050" y="2169750"/>
            <a:ext cx="3975900" cy="8040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221" name="Google Shape;221;p32"/>
          <p:cNvSpPr txBox="1"/>
          <p:nvPr/>
        </p:nvSpPr>
        <p:spPr>
          <a:xfrm>
            <a:off x="2740050" y="2248500"/>
            <a:ext cx="3663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solidFill>
                  <a:schemeClr val="dk1"/>
                </a:solidFill>
                <a:latin typeface="Times New Roman"/>
                <a:ea typeface="Times New Roman"/>
                <a:cs typeface="Times New Roman"/>
                <a:sym typeface="Times New Roman"/>
              </a:rPr>
              <a:t>Results &amp; Discussion</a:t>
            </a:r>
            <a:endParaRPr sz="3000" b="1">
              <a:solidFill>
                <a:schemeClr val="dk1"/>
              </a:solidFill>
              <a:latin typeface="Times New Roman"/>
              <a:ea typeface="Times New Roman"/>
              <a:cs typeface="Times New Roman"/>
              <a:sym typeface="Times New Roman"/>
            </a:endParaRPr>
          </a:p>
        </p:txBody>
      </p:sp>
      <p:sp>
        <p:nvSpPr>
          <p:cNvPr id="222" name="Google Shape;222;p32"/>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223" name="Google Shape;223;p32"/>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7"/>
        <p:cNvGrpSpPr/>
        <p:nvPr/>
      </p:nvGrpSpPr>
      <p:grpSpPr>
        <a:xfrm>
          <a:off x="0" y="0"/>
          <a:ext cx="0" cy="0"/>
          <a:chOff x="0" y="0"/>
          <a:chExt cx="0" cy="0"/>
        </a:xfrm>
      </p:grpSpPr>
      <p:sp>
        <p:nvSpPr>
          <p:cNvPr id="228" name="Google Shape;228;p33"/>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229" name="Google Shape;229;p33"/>
          <p:cNvSpPr txBox="1"/>
          <p:nvPr/>
        </p:nvSpPr>
        <p:spPr>
          <a:xfrm>
            <a:off x="482550" y="1068950"/>
            <a:ext cx="8178900" cy="2330400"/>
          </a:xfrm>
          <a:prstGeom prst="rect">
            <a:avLst/>
          </a:prstGeom>
          <a:noFill/>
          <a:ln>
            <a:noFill/>
          </a:ln>
        </p:spPr>
        <p:txBody>
          <a:bodyPr spcFirstLastPara="1" wrap="square" lIns="91425" tIns="91425" rIns="91425" bIns="91425" anchor="t" anchorCtr="0">
            <a:noAutofit/>
          </a:bodyPr>
          <a:lstStyle/>
          <a:p>
            <a:pPr marL="457200" lvl="0" indent="-381000" algn="just" rtl="0">
              <a:lnSpc>
                <a:spcPct val="150000"/>
              </a:lnSpc>
              <a:spcBef>
                <a:spcPts val="0"/>
              </a:spcBef>
              <a:spcAft>
                <a:spcPts val="0"/>
              </a:spcAft>
              <a:buSzPts val="2400"/>
              <a:buFont typeface="Times New Roman"/>
              <a:buChar char="●"/>
            </a:pPr>
            <a:r>
              <a:rPr lang="en" sz="2400">
                <a:latin typeface="Times New Roman"/>
                <a:ea typeface="Times New Roman"/>
                <a:cs typeface="Times New Roman"/>
                <a:sym typeface="Times New Roman"/>
              </a:rPr>
              <a:t>Material selected should withstand the pressure experienced at the draught of the vessel.</a:t>
            </a:r>
            <a:endParaRPr sz="2400">
              <a:latin typeface="Times New Roman"/>
              <a:ea typeface="Times New Roman"/>
              <a:cs typeface="Times New Roman"/>
              <a:sym typeface="Times New Roman"/>
            </a:endParaRPr>
          </a:p>
          <a:p>
            <a:pPr marL="457200" lvl="0" indent="-381000" algn="just" rtl="0">
              <a:lnSpc>
                <a:spcPct val="150000"/>
              </a:lnSpc>
              <a:spcBef>
                <a:spcPts val="0"/>
              </a:spcBef>
              <a:spcAft>
                <a:spcPts val="0"/>
              </a:spcAft>
              <a:buSzPts val="2400"/>
              <a:buFont typeface="Times New Roman"/>
              <a:buChar char="●"/>
            </a:pPr>
            <a:r>
              <a:rPr lang="en" sz="2400">
                <a:latin typeface="Times New Roman"/>
                <a:ea typeface="Times New Roman"/>
                <a:cs typeface="Times New Roman"/>
                <a:sym typeface="Times New Roman"/>
              </a:rPr>
              <a:t>Settling on an average depth of 10m - greater than the draughts of many smaller vessels such as Aylah 1. </a:t>
            </a:r>
            <a:endParaRPr sz="2400">
              <a:latin typeface="Times New Roman"/>
              <a:ea typeface="Times New Roman"/>
              <a:cs typeface="Times New Roman"/>
              <a:sym typeface="Times New Roman"/>
            </a:endParaRPr>
          </a:p>
          <a:p>
            <a:pPr marL="457200" lvl="0" indent="0" algn="just" rtl="0">
              <a:lnSpc>
                <a:spcPct val="150000"/>
              </a:lnSpc>
              <a:spcBef>
                <a:spcPts val="800"/>
              </a:spcBef>
              <a:spcAft>
                <a:spcPts val="800"/>
              </a:spcAft>
              <a:buNone/>
            </a:pPr>
            <a:endParaRPr sz="2400">
              <a:latin typeface="Times New Roman"/>
              <a:ea typeface="Times New Roman"/>
              <a:cs typeface="Times New Roman"/>
              <a:sym typeface="Times New Roman"/>
            </a:endParaRPr>
          </a:p>
        </p:txBody>
      </p:sp>
      <p:sp>
        <p:nvSpPr>
          <p:cNvPr id="230" name="Google Shape;230;p33"/>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4"/>
        <p:cNvGrpSpPr/>
        <p:nvPr/>
      </p:nvGrpSpPr>
      <p:grpSpPr>
        <a:xfrm>
          <a:off x="0" y="0"/>
          <a:ext cx="0" cy="0"/>
          <a:chOff x="0" y="0"/>
          <a:chExt cx="0" cy="0"/>
        </a:xfrm>
      </p:grpSpPr>
      <p:sp>
        <p:nvSpPr>
          <p:cNvPr id="235" name="Google Shape;235;p34"/>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pic>
        <p:nvPicPr>
          <p:cNvPr id="236" name="Google Shape;236;p34" descr="For correct interpretation of this image use e.g. IE9, Chrome, Safari, Firefox"/>
          <p:cNvPicPr preferRelativeResize="0"/>
          <p:nvPr/>
        </p:nvPicPr>
        <p:blipFill rotWithShape="1">
          <a:blip r:embed="rId4">
            <a:alphaModFix/>
          </a:blip>
          <a:srcRect l="28311" t="6352" r="19084" b="17665"/>
          <a:stretch/>
        </p:blipFill>
        <p:spPr>
          <a:xfrm>
            <a:off x="0" y="1136325"/>
            <a:ext cx="4953000" cy="4007174"/>
          </a:xfrm>
          <a:prstGeom prst="rect">
            <a:avLst/>
          </a:prstGeom>
          <a:noFill/>
          <a:ln>
            <a:noFill/>
          </a:ln>
        </p:spPr>
      </p:pic>
      <p:sp>
        <p:nvSpPr>
          <p:cNvPr id="237" name="Google Shape;237;p34"/>
          <p:cNvSpPr txBox="1"/>
          <p:nvPr/>
        </p:nvSpPr>
        <p:spPr>
          <a:xfrm>
            <a:off x="5308600" y="0"/>
            <a:ext cx="38355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solidFill>
                  <a:srgbClr val="1F1F1F"/>
                </a:solidFill>
                <a:latin typeface="Times New Roman"/>
                <a:ea typeface="Times New Roman"/>
                <a:cs typeface="Times New Roman"/>
                <a:sym typeface="Times New Roman"/>
              </a:rPr>
              <a:t>Principal Dimensions</a:t>
            </a:r>
            <a:endParaRPr sz="3000" b="1">
              <a:solidFill>
                <a:srgbClr val="1F1F1F"/>
              </a:solidFill>
              <a:latin typeface="Times New Roman"/>
              <a:ea typeface="Times New Roman"/>
              <a:cs typeface="Times New Roman"/>
              <a:sym typeface="Times New Roman"/>
            </a:endParaRPr>
          </a:p>
        </p:txBody>
      </p:sp>
      <p:graphicFrame>
        <p:nvGraphicFramePr>
          <p:cNvPr id="238" name="Google Shape;238;p34"/>
          <p:cNvGraphicFramePr/>
          <p:nvPr/>
        </p:nvGraphicFramePr>
        <p:xfrm>
          <a:off x="4953000" y="844575"/>
          <a:ext cx="3000000" cy="3000000"/>
        </p:xfrm>
        <a:graphic>
          <a:graphicData uri="http://schemas.openxmlformats.org/drawingml/2006/table">
            <a:tbl>
              <a:tblPr>
                <a:noFill/>
                <a:tableStyleId>{0C7FF19C-AFE5-40EB-A433-F70B18BB0952}</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946450">
                <a:tc>
                  <a:txBody>
                    <a:bodyPr/>
                    <a:lstStyle/>
                    <a:p>
                      <a:pPr marL="0" lvl="0" indent="0" algn="l" rtl="0">
                        <a:spcBef>
                          <a:spcPts val="0"/>
                        </a:spcBef>
                        <a:spcAft>
                          <a:spcPts val="0"/>
                        </a:spcAft>
                        <a:buNone/>
                      </a:pPr>
                      <a:r>
                        <a:rPr lang="en" sz="1800">
                          <a:latin typeface="Times New Roman"/>
                          <a:ea typeface="Times New Roman"/>
                          <a:cs typeface="Times New Roman"/>
                          <a:sym typeface="Times New Roman"/>
                        </a:rPr>
                        <a:t>Length</a:t>
                      </a:r>
                      <a:endParaRPr sz="1800">
                        <a:latin typeface="Times New Roman"/>
                        <a:ea typeface="Times New Roman"/>
                        <a:cs typeface="Times New Roman"/>
                        <a:sym typeface="Times New Roman"/>
                      </a:endParaRPr>
                    </a:p>
                  </a:txBody>
                  <a:tcPr marL="91425" marR="91425" marT="91425" marB="91425">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800">
                          <a:latin typeface="Times New Roman"/>
                          <a:ea typeface="Times New Roman"/>
                          <a:cs typeface="Times New Roman"/>
                          <a:sym typeface="Times New Roman"/>
                        </a:rPr>
                        <a:t>550 mm</a:t>
                      </a:r>
                      <a:endParaRPr sz="1800">
                        <a:latin typeface="Times New Roman"/>
                        <a:ea typeface="Times New Roman"/>
                        <a:cs typeface="Times New Roman"/>
                        <a:sym typeface="Times New Roman"/>
                      </a:endParaRPr>
                    </a:p>
                  </a:txBody>
                  <a:tcPr marL="91425" marR="91425" marT="91425" marB="91425">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46450">
                <a:tc>
                  <a:txBody>
                    <a:bodyPr/>
                    <a:lstStyle/>
                    <a:p>
                      <a:pPr marL="0" lvl="0" indent="0" algn="l" rtl="0">
                        <a:spcBef>
                          <a:spcPts val="0"/>
                        </a:spcBef>
                        <a:spcAft>
                          <a:spcPts val="0"/>
                        </a:spcAft>
                        <a:buNone/>
                      </a:pPr>
                      <a:r>
                        <a:rPr lang="en" sz="1800">
                          <a:latin typeface="Times New Roman"/>
                          <a:ea typeface="Times New Roman"/>
                          <a:cs typeface="Times New Roman"/>
                          <a:sym typeface="Times New Roman"/>
                        </a:rPr>
                        <a:t>Width</a:t>
                      </a:r>
                      <a:endParaRPr sz="1800">
                        <a:latin typeface="Times New Roman"/>
                        <a:ea typeface="Times New Roman"/>
                        <a:cs typeface="Times New Roman"/>
                        <a:sym typeface="Times New Roman"/>
                      </a:endParaRPr>
                    </a:p>
                  </a:txBody>
                  <a:tcPr marL="91425" marR="91425" marT="91425" marB="91425">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800">
                          <a:latin typeface="Times New Roman"/>
                          <a:ea typeface="Times New Roman"/>
                          <a:cs typeface="Times New Roman"/>
                          <a:sym typeface="Times New Roman"/>
                        </a:rPr>
                        <a:t>550 mm</a:t>
                      </a:r>
                      <a:endParaRPr sz="1800">
                        <a:latin typeface="Times New Roman"/>
                        <a:ea typeface="Times New Roman"/>
                        <a:cs typeface="Times New Roman"/>
                        <a:sym typeface="Times New Roman"/>
                      </a:endParaRPr>
                    </a:p>
                  </a:txBody>
                  <a:tcPr marL="91425" marR="91425" marT="91425" marB="91425">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46450">
                <a:tc>
                  <a:txBody>
                    <a:bodyPr/>
                    <a:lstStyle/>
                    <a:p>
                      <a:pPr marL="0" lvl="0" indent="0" algn="l" rtl="0">
                        <a:spcBef>
                          <a:spcPts val="0"/>
                        </a:spcBef>
                        <a:spcAft>
                          <a:spcPts val="0"/>
                        </a:spcAft>
                        <a:buNone/>
                      </a:pPr>
                      <a:r>
                        <a:rPr lang="en" sz="1800">
                          <a:latin typeface="Times New Roman"/>
                          <a:ea typeface="Times New Roman"/>
                          <a:cs typeface="Times New Roman"/>
                          <a:sym typeface="Times New Roman"/>
                        </a:rPr>
                        <a:t>Height</a:t>
                      </a:r>
                      <a:endParaRPr sz="1800">
                        <a:latin typeface="Times New Roman"/>
                        <a:ea typeface="Times New Roman"/>
                        <a:cs typeface="Times New Roman"/>
                        <a:sym typeface="Times New Roman"/>
                      </a:endParaRPr>
                    </a:p>
                  </a:txBody>
                  <a:tcPr marL="91425" marR="91425" marT="91425" marB="91425">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800">
                          <a:latin typeface="Times New Roman"/>
                          <a:ea typeface="Times New Roman"/>
                          <a:cs typeface="Times New Roman"/>
                          <a:sym typeface="Times New Roman"/>
                        </a:rPr>
                        <a:t>211.13 mm</a:t>
                      </a:r>
                      <a:endParaRPr sz="1800">
                        <a:latin typeface="Times New Roman"/>
                        <a:ea typeface="Times New Roman"/>
                        <a:cs typeface="Times New Roman"/>
                        <a:sym typeface="Times New Roman"/>
                      </a:endParaRPr>
                    </a:p>
                  </a:txBody>
                  <a:tcPr marL="91425" marR="91425" marT="91425" marB="91425">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46450">
                <a:tc>
                  <a:txBody>
                    <a:bodyPr/>
                    <a:lstStyle/>
                    <a:p>
                      <a:pPr marL="0" lvl="0" indent="0" algn="l" rtl="0">
                        <a:spcBef>
                          <a:spcPts val="0"/>
                        </a:spcBef>
                        <a:spcAft>
                          <a:spcPts val="0"/>
                        </a:spcAft>
                        <a:buNone/>
                      </a:pPr>
                      <a:r>
                        <a:rPr lang="en" sz="1800">
                          <a:latin typeface="Times New Roman"/>
                          <a:ea typeface="Times New Roman"/>
                          <a:cs typeface="Times New Roman"/>
                          <a:sym typeface="Times New Roman"/>
                        </a:rPr>
                        <a:t>Thickness</a:t>
                      </a:r>
                      <a:endParaRPr sz="1800">
                        <a:latin typeface="Times New Roman"/>
                        <a:ea typeface="Times New Roman"/>
                        <a:cs typeface="Times New Roman"/>
                        <a:sym typeface="Times New Roman"/>
                      </a:endParaRPr>
                    </a:p>
                  </a:txBody>
                  <a:tcPr marL="91425" marR="91425" marT="91425" marB="91425">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800">
                          <a:latin typeface="Times New Roman"/>
                          <a:ea typeface="Times New Roman"/>
                          <a:cs typeface="Times New Roman"/>
                          <a:sym typeface="Times New Roman"/>
                        </a:rPr>
                        <a:t>5 mm</a:t>
                      </a:r>
                      <a:endParaRPr sz="1800">
                        <a:latin typeface="Times New Roman"/>
                        <a:ea typeface="Times New Roman"/>
                        <a:cs typeface="Times New Roman"/>
                        <a:sym typeface="Times New Roman"/>
                      </a:endParaRPr>
                    </a:p>
                  </a:txBody>
                  <a:tcPr marL="91425" marR="91425" marT="91425" marB="91425">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9" name="Google Shape;239;p34"/>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3"/>
        <p:cNvGrpSpPr/>
        <p:nvPr/>
      </p:nvGrpSpPr>
      <p:grpSpPr>
        <a:xfrm>
          <a:off x="0" y="0"/>
          <a:ext cx="0" cy="0"/>
          <a:chOff x="0" y="0"/>
          <a:chExt cx="0" cy="0"/>
        </a:xfrm>
      </p:grpSpPr>
      <p:sp>
        <p:nvSpPr>
          <p:cNvPr id="244" name="Google Shape;244;p35"/>
          <p:cNvSpPr txBox="1"/>
          <p:nvPr/>
        </p:nvSpPr>
        <p:spPr>
          <a:xfrm>
            <a:off x="809100" y="217025"/>
            <a:ext cx="7525800" cy="877200"/>
          </a:xfrm>
          <a:prstGeom prst="rect">
            <a:avLst/>
          </a:prstGeom>
          <a:noFill/>
          <a:ln>
            <a:noFill/>
          </a:ln>
        </p:spPr>
        <p:txBody>
          <a:bodyPr spcFirstLastPara="1" wrap="square" lIns="91425" tIns="91425" rIns="91425" bIns="91425" anchor="t" anchorCtr="0">
            <a:spAutoFit/>
          </a:bodyPr>
          <a:lstStyle/>
          <a:p>
            <a:pPr marL="457200" lvl="0" indent="-342900" algn="just" rtl="0">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frame is subjected to a stress and deformation analysis through a series of pressures for  different depths.</a:t>
            </a:r>
            <a:endParaRPr sz="1800">
              <a:latin typeface="Times New Roman"/>
              <a:ea typeface="Times New Roman"/>
              <a:cs typeface="Times New Roman"/>
              <a:sym typeface="Times New Roman"/>
            </a:endParaRPr>
          </a:p>
        </p:txBody>
      </p:sp>
      <p:graphicFrame>
        <p:nvGraphicFramePr>
          <p:cNvPr id="245" name="Google Shape;245;p35"/>
          <p:cNvGraphicFramePr/>
          <p:nvPr/>
        </p:nvGraphicFramePr>
        <p:xfrm>
          <a:off x="1755975" y="1852425"/>
          <a:ext cx="3000000" cy="3000000"/>
        </p:xfrm>
        <a:graphic>
          <a:graphicData uri="http://schemas.openxmlformats.org/drawingml/2006/table">
            <a:tbl>
              <a:tblPr>
                <a:noFill/>
                <a:tableStyleId>{E2466D8C-6F8C-410A-86CD-92F3A03C2370}</a:tableStyleId>
              </a:tblPr>
              <a:tblGrid>
                <a:gridCol w="1247775">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gridCol w="2876550">
                  <a:extLst>
                    <a:ext uri="{9D8B030D-6E8A-4147-A177-3AD203B41FA5}">
                      <a16:colId xmlns:a16="http://schemas.microsoft.com/office/drawing/2014/main" val="20002"/>
                    </a:ext>
                  </a:extLst>
                </a:gridCol>
              </a:tblGrid>
              <a:tr h="304800">
                <a:tc>
                  <a:txBody>
                    <a:bodyPr/>
                    <a:lstStyle/>
                    <a:p>
                      <a:pPr marL="0" lvl="0" indent="0" algn="l" rtl="0">
                        <a:lnSpc>
                          <a:spcPct val="115000"/>
                        </a:lnSpc>
                        <a:spcBef>
                          <a:spcPts val="1200"/>
                        </a:spcBef>
                        <a:spcAft>
                          <a:spcPts val="0"/>
                        </a:spcAft>
                        <a:buNone/>
                      </a:pPr>
                      <a:r>
                        <a:rPr lang="en"/>
                        <a:t>No</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t>Depth</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t>Load (Pa)</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04800">
                <a:tc>
                  <a:txBody>
                    <a:bodyPr/>
                    <a:lstStyle/>
                    <a:p>
                      <a:pPr marL="0" lvl="0" indent="0" algn="l" rtl="0">
                        <a:lnSpc>
                          <a:spcPct val="115000"/>
                        </a:lnSpc>
                        <a:spcBef>
                          <a:spcPts val="1200"/>
                        </a:spcBef>
                        <a:spcAft>
                          <a:spcPts val="0"/>
                        </a:spcAft>
                        <a:buNone/>
                      </a:pPr>
                      <a:r>
                        <a:rPr lang="en"/>
                        <a:t>1</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t>10</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t>101,043</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04800">
                <a:tc>
                  <a:txBody>
                    <a:bodyPr/>
                    <a:lstStyle/>
                    <a:p>
                      <a:pPr marL="0" lvl="0" indent="0" algn="l" rtl="0">
                        <a:lnSpc>
                          <a:spcPct val="115000"/>
                        </a:lnSpc>
                        <a:spcBef>
                          <a:spcPts val="1200"/>
                        </a:spcBef>
                        <a:spcAft>
                          <a:spcPts val="0"/>
                        </a:spcAft>
                        <a:buNone/>
                      </a:pPr>
                      <a:r>
                        <a:rPr lang="en"/>
                        <a:t>2</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t>50</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t>505,215</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4800">
                <a:tc>
                  <a:txBody>
                    <a:bodyPr/>
                    <a:lstStyle/>
                    <a:p>
                      <a:pPr marL="0" lvl="0" indent="0" algn="l" rtl="0">
                        <a:lnSpc>
                          <a:spcPct val="115000"/>
                        </a:lnSpc>
                        <a:spcBef>
                          <a:spcPts val="1200"/>
                        </a:spcBef>
                        <a:spcAft>
                          <a:spcPts val="0"/>
                        </a:spcAft>
                        <a:buNone/>
                      </a:pPr>
                      <a:r>
                        <a:rPr lang="en"/>
                        <a:t>3</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t>100</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a:t>1,010,430</a:t>
                      </a:r>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46" name="Google Shape;246;p35"/>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0"/>
        <p:cNvGrpSpPr/>
        <p:nvPr/>
      </p:nvGrpSpPr>
      <p:grpSpPr>
        <a:xfrm>
          <a:off x="0" y="0"/>
          <a:ext cx="0" cy="0"/>
          <a:chOff x="0" y="0"/>
          <a:chExt cx="0" cy="0"/>
        </a:xfrm>
      </p:grpSpPr>
      <p:sp>
        <p:nvSpPr>
          <p:cNvPr id="251" name="Google Shape;251;p36"/>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252" name="Google Shape;252;p36"/>
          <p:cNvSpPr txBox="1"/>
          <p:nvPr/>
        </p:nvSpPr>
        <p:spPr>
          <a:xfrm>
            <a:off x="265250" y="337600"/>
            <a:ext cx="8283000" cy="4617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Font typeface="Times New Roman"/>
              <a:buChar char="●"/>
            </a:pPr>
            <a:r>
              <a:rPr lang="en" sz="1800">
                <a:latin typeface="Times New Roman"/>
                <a:ea typeface="Times New Roman"/>
                <a:cs typeface="Times New Roman"/>
                <a:sym typeface="Times New Roman"/>
              </a:rPr>
              <a:t>The sealing compartment is also subjected to a stress and deformation analysis. </a:t>
            </a:r>
            <a:endParaRPr sz="1800">
              <a:latin typeface="Times New Roman"/>
              <a:ea typeface="Times New Roman"/>
              <a:cs typeface="Times New Roman"/>
              <a:sym typeface="Times New Roman"/>
            </a:endParaRPr>
          </a:p>
        </p:txBody>
      </p:sp>
      <p:graphicFrame>
        <p:nvGraphicFramePr>
          <p:cNvPr id="253" name="Google Shape;253;p36"/>
          <p:cNvGraphicFramePr/>
          <p:nvPr/>
        </p:nvGraphicFramePr>
        <p:xfrm>
          <a:off x="1179188" y="3376775"/>
          <a:ext cx="3000000" cy="3000000"/>
        </p:xfrm>
        <a:graphic>
          <a:graphicData uri="http://schemas.openxmlformats.org/drawingml/2006/table">
            <a:tbl>
              <a:tblPr>
                <a:noFill/>
                <a:tableStyleId>{E2466D8C-6F8C-410A-86CD-92F3A03C2370}</a:tableStyleId>
              </a:tblPr>
              <a:tblGrid>
                <a:gridCol w="673175">
                  <a:extLst>
                    <a:ext uri="{9D8B030D-6E8A-4147-A177-3AD203B41FA5}">
                      <a16:colId xmlns:a16="http://schemas.microsoft.com/office/drawing/2014/main" val="20000"/>
                    </a:ext>
                  </a:extLst>
                </a:gridCol>
                <a:gridCol w="1534850">
                  <a:extLst>
                    <a:ext uri="{9D8B030D-6E8A-4147-A177-3AD203B41FA5}">
                      <a16:colId xmlns:a16="http://schemas.microsoft.com/office/drawing/2014/main" val="20001"/>
                    </a:ext>
                  </a:extLst>
                </a:gridCol>
                <a:gridCol w="2638850">
                  <a:extLst>
                    <a:ext uri="{9D8B030D-6E8A-4147-A177-3AD203B41FA5}">
                      <a16:colId xmlns:a16="http://schemas.microsoft.com/office/drawing/2014/main" val="20002"/>
                    </a:ext>
                  </a:extLst>
                </a:gridCol>
                <a:gridCol w="1938750">
                  <a:extLst>
                    <a:ext uri="{9D8B030D-6E8A-4147-A177-3AD203B41FA5}">
                      <a16:colId xmlns:a16="http://schemas.microsoft.com/office/drawing/2014/main" val="20003"/>
                    </a:ext>
                  </a:extLst>
                </a:gridCol>
              </a:tblGrid>
              <a:tr h="773525">
                <a:tc>
                  <a:txBody>
                    <a:bodyPr/>
                    <a:lstStyle/>
                    <a:p>
                      <a:pPr marL="0" lvl="0" indent="0" algn="l" rtl="0">
                        <a:lnSpc>
                          <a:spcPct val="150000"/>
                        </a:lnSpc>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tc>
                  <a:txBody>
                    <a:bodyPr/>
                    <a:lstStyle/>
                    <a:p>
                      <a:pPr marL="0" lvl="0" indent="0" algn="l" rtl="0">
                        <a:lnSpc>
                          <a:spcPct val="150000"/>
                        </a:lnSpc>
                        <a:spcBef>
                          <a:spcPts val="0"/>
                        </a:spcBef>
                        <a:spcAft>
                          <a:spcPts val="0"/>
                        </a:spcAft>
                        <a:buNone/>
                      </a:pPr>
                      <a:r>
                        <a:rPr lang="en">
                          <a:latin typeface="Times New Roman"/>
                          <a:ea typeface="Times New Roman"/>
                          <a:cs typeface="Times New Roman"/>
                          <a:sym typeface="Times New Roman"/>
                        </a:rPr>
                        <a:t>Depth(m)</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tc>
                  <a:txBody>
                    <a:bodyPr/>
                    <a:lstStyle/>
                    <a:p>
                      <a:pPr marL="0" lvl="0" indent="0" algn="l" rtl="0">
                        <a:lnSpc>
                          <a:spcPct val="150000"/>
                        </a:lnSpc>
                        <a:spcBef>
                          <a:spcPts val="0"/>
                        </a:spcBef>
                        <a:spcAft>
                          <a:spcPts val="0"/>
                        </a:spcAft>
                        <a:buNone/>
                      </a:pPr>
                      <a:r>
                        <a:rPr lang="en">
                          <a:latin typeface="Times New Roman"/>
                          <a:ea typeface="Times New Roman"/>
                          <a:cs typeface="Times New Roman"/>
                          <a:sym typeface="Times New Roman"/>
                        </a:rPr>
                        <a:t>Deformation(mm)</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tc>
                  <a:txBody>
                    <a:bodyPr/>
                    <a:lstStyle/>
                    <a:p>
                      <a:pPr marL="0" lvl="0" indent="0" algn="l" rtl="0">
                        <a:lnSpc>
                          <a:spcPct val="150000"/>
                        </a:lnSpc>
                        <a:spcBef>
                          <a:spcPts val="0"/>
                        </a:spcBef>
                        <a:spcAft>
                          <a:spcPts val="0"/>
                        </a:spcAft>
                        <a:buNone/>
                      </a:pPr>
                      <a:r>
                        <a:rPr lang="en">
                          <a:latin typeface="Times New Roman"/>
                          <a:ea typeface="Times New Roman"/>
                          <a:cs typeface="Times New Roman"/>
                          <a:sym typeface="Times New Roman"/>
                        </a:rPr>
                        <a:t>Stress (Mpa)</a:t>
                      </a:r>
                      <a:endParaRPr>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642775">
                <a:tc>
                  <a:txBody>
                    <a:bodyPr/>
                    <a:lstStyle/>
                    <a:p>
                      <a:pPr marL="0" lvl="0" indent="0" algn="l" rtl="0">
                        <a:lnSpc>
                          <a:spcPct val="150000"/>
                        </a:lnSpc>
                        <a:spcBef>
                          <a:spcPts val="0"/>
                        </a:spcBef>
                        <a:spcAft>
                          <a:spcPts val="0"/>
                        </a:spcAft>
                        <a:buNone/>
                      </a:pPr>
                      <a:r>
                        <a:rPr lang="en">
                          <a:highlight>
                            <a:srgbClr val="FFFFFF"/>
                          </a:highlight>
                          <a:latin typeface="Times New Roman"/>
                          <a:ea typeface="Times New Roman"/>
                          <a:cs typeface="Times New Roman"/>
                          <a:sym typeface="Times New Roman"/>
                        </a:rPr>
                        <a:t>1</a:t>
                      </a:r>
                      <a:endParaRPr>
                        <a:highlight>
                          <a:srgbClr val="FFFFFF"/>
                        </a:highlight>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tc>
                  <a:txBody>
                    <a:bodyPr/>
                    <a:lstStyle/>
                    <a:p>
                      <a:pPr marL="0" lvl="0" indent="0" algn="l" rtl="0">
                        <a:lnSpc>
                          <a:spcPct val="150000"/>
                        </a:lnSpc>
                        <a:spcBef>
                          <a:spcPts val="0"/>
                        </a:spcBef>
                        <a:spcAft>
                          <a:spcPts val="0"/>
                        </a:spcAft>
                        <a:buNone/>
                      </a:pPr>
                      <a:r>
                        <a:rPr lang="en">
                          <a:highlight>
                            <a:srgbClr val="FFFFFF"/>
                          </a:highlight>
                          <a:latin typeface="Times New Roman"/>
                          <a:ea typeface="Times New Roman"/>
                          <a:cs typeface="Times New Roman"/>
                          <a:sym typeface="Times New Roman"/>
                        </a:rPr>
                        <a:t>100</a:t>
                      </a:r>
                      <a:endParaRPr>
                        <a:highlight>
                          <a:srgbClr val="FFFFFF"/>
                        </a:highlight>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tc>
                  <a:txBody>
                    <a:bodyPr/>
                    <a:lstStyle/>
                    <a:p>
                      <a:pPr marL="0" lvl="0" indent="0" algn="l" rtl="0">
                        <a:lnSpc>
                          <a:spcPct val="150000"/>
                        </a:lnSpc>
                        <a:spcBef>
                          <a:spcPts val="0"/>
                        </a:spcBef>
                        <a:spcAft>
                          <a:spcPts val="0"/>
                        </a:spcAft>
                        <a:buNone/>
                      </a:pPr>
                      <a:r>
                        <a:rPr lang="en">
                          <a:highlight>
                            <a:srgbClr val="FFFFFF"/>
                          </a:highlight>
                          <a:latin typeface="Times New Roman"/>
                          <a:ea typeface="Times New Roman"/>
                          <a:cs typeface="Times New Roman"/>
                          <a:sym typeface="Times New Roman"/>
                        </a:rPr>
                        <a:t>7.955E-08</a:t>
                      </a:r>
                      <a:endParaRPr>
                        <a:highlight>
                          <a:srgbClr val="FFFFFF"/>
                        </a:highlight>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tc>
                  <a:txBody>
                    <a:bodyPr/>
                    <a:lstStyle/>
                    <a:p>
                      <a:pPr marL="0" lvl="0" indent="0" algn="l" rtl="0">
                        <a:lnSpc>
                          <a:spcPct val="150000"/>
                        </a:lnSpc>
                        <a:spcBef>
                          <a:spcPts val="0"/>
                        </a:spcBef>
                        <a:spcAft>
                          <a:spcPts val="0"/>
                        </a:spcAft>
                        <a:buNone/>
                      </a:pPr>
                      <a:r>
                        <a:rPr lang="en">
                          <a:highlight>
                            <a:srgbClr val="FFFFFF"/>
                          </a:highlight>
                          <a:latin typeface="Times New Roman"/>
                          <a:ea typeface="Times New Roman"/>
                          <a:cs typeface="Times New Roman"/>
                          <a:sym typeface="Times New Roman"/>
                        </a:rPr>
                        <a:t>7.146E-05</a:t>
                      </a:r>
                      <a:endParaRPr>
                        <a:highlight>
                          <a:srgbClr val="FFFFFF"/>
                        </a:highlight>
                        <a:latin typeface="Times New Roman"/>
                        <a:ea typeface="Times New Roman"/>
                        <a:cs typeface="Times New Roman"/>
                        <a:sym typeface="Times New Roman"/>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pic>
        <p:nvPicPr>
          <p:cNvPr id="254" name="Google Shape;254;p36"/>
          <p:cNvPicPr preferRelativeResize="0"/>
          <p:nvPr/>
        </p:nvPicPr>
        <p:blipFill>
          <a:blip r:embed="rId4">
            <a:alphaModFix/>
          </a:blip>
          <a:stretch>
            <a:fillRect/>
          </a:stretch>
        </p:blipFill>
        <p:spPr>
          <a:xfrm>
            <a:off x="1179200" y="1079400"/>
            <a:ext cx="3165675" cy="2118100"/>
          </a:xfrm>
          <a:prstGeom prst="rect">
            <a:avLst/>
          </a:prstGeom>
          <a:noFill/>
          <a:ln>
            <a:noFill/>
          </a:ln>
        </p:spPr>
      </p:pic>
      <p:pic>
        <p:nvPicPr>
          <p:cNvPr id="255" name="Google Shape;255;p36"/>
          <p:cNvPicPr preferRelativeResize="0"/>
          <p:nvPr/>
        </p:nvPicPr>
        <p:blipFill>
          <a:blip r:embed="rId5">
            <a:alphaModFix/>
          </a:blip>
          <a:stretch>
            <a:fillRect/>
          </a:stretch>
        </p:blipFill>
        <p:spPr>
          <a:xfrm>
            <a:off x="4551519" y="988250"/>
            <a:ext cx="3318631" cy="2236125"/>
          </a:xfrm>
          <a:prstGeom prst="rect">
            <a:avLst/>
          </a:prstGeom>
          <a:noFill/>
          <a:ln>
            <a:noFill/>
          </a:ln>
        </p:spPr>
      </p:pic>
      <p:sp>
        <p:nvSpPr>
          <p:cNvPr id="256" name="Google Shape;256;p36"/>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0"/>
        <p:cNvGrpSpPr/>
        <p:nvPr/>
      </p:nvGrpSpPr>
      <p:grpSpPr>
        <a:xfrm>
          <a:off x="0" y="0"/>
          <a:ext cx="0" cy="0"/>
          <a:chOff x="0" y="0"/>
          <a:chExt cx="0" cy="0"/>
        </a:xfrm>
      </p:grpSpPr>
      <p:sp>
        <p:nvSpPr>
          <p:cNvPr id="261" name="Google Shape;261;p37"/>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262" name="Google Shape;262;p37"/>
          <p:cNvSpPr txBox="1"/>
          <p:nvPr/>
        </p:nvSpPr>
        <p:spPr>
          <a:xfrm>
            <a:off x="1079550" y="192900"/>
            <a:ext cx="69849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lt1"/>
                </a:solidFill>
                <a:latin typeface="Times New Roman"/>
                <a:ea typeface="Times New Roman"/>
                <a:cs typeface="Times New Roman"/>
                <a:sym typeface="Times New Roman"/>
              </a:rPr>
              <a:t>Stress and Deformation analysis of the frame on Depth Variation</a:t>
            </a:r>
            <a:endParaRPr sz="2400" b="1">
              <a:solidFill>
                <a:schemeClr val="lt1"/>
              </a:solidFill>
              <a:latin typeface="Times New Roman"/>
              <a:ea typeface="Times New Roman"/>
              <a:cs typeface="Times New Roman"/>
              <a:sym typeface="Times New Roman"/>
            </a:endParaRPr>
          </a:p>
        </p:txBody>
      </p:sp>
      <p:pic>
        <p:nvPicPr>
          <p:cNvPr id="263" name="Google Shape;263;p37" title="Chart"/>
          <p:cNvPicPr preferRelativeResize="0"/>
          <p:nvPr/>
        </p:nvPicPr>
        <p:blipFill>
          <a:blip r:embed="rId4">
            <a:alphaModFix/>
          </a:blip>
          <a:stretch>
            <a:fillRect/>
          </a:stretch>
        </p:blipFill>
        <p:spPr>
          <a:xfrm>
            <a:off x="1010" y="1165850"/>
            <a:ext cx="4476940" cy="3977650"/>
          </a:xfrm>
          <a:prstGeom prst="rect">
            <a:avLst/>
          </a:prstGeom>
          <a:noFill/>
          <a:ln>
            <a:noFill/>
          </a:ln>
        </p:spPr>
      </p:pic>
      <p:pic>
        <p:nvPicPr>
          <p:cNvPr id="264" name="Google Shape;264;p37" title="Chart"/>
          <p:cNvPicPr preferRelativeResize="0"/>
          <p:nvPr/>
        </p:nvPicPr>
        <p:blipFill>
          <a:blip r:embed="rId5">
            <a:alphaModFix/>
          </a:blip>
          <a:stretch>
            <a:fillRect/>
          </a:stretch>
        </p:blipFill>
        <p:spPr>
          <a:xfrm>
            <a:off x="4352575" y="1165850"/>
            <a:ext cx="4791425" cy="3977650"/>
          </a:xfrm>
          <a:prstGeom prst="rect">
            <a:avLst/>
          </a:prstGeom>
          <a:noFill/>
          <a:ln>
            <a:noFill/>
          </a:ln>
        </p:spPr>
      </p:pic>
      <p:sp>
        <p:nvSpPr>
          <p:cNvPr id="265" name="Google Shape;265;p37"/>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9"/>
        <p:cNvGrpSpPr/>
        <p:nvPr/>
      </p:nvGrpSpPr>
      <p:grpSpPr>
        <a:xfrm>
          <a:off x="0" y="0"/>
          <a:ext cx="0" cy="0"/>
          <a:chOff x="0" y="0"/>
          <a:chExt cx="0" cy="0"/>
        </a:xfrm>
      </p:grpSpPr>
      <p:sp>
        <p:nvSpPr>
          <p:cNvPr id="270" name="Google Shape;270;p38"/>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271" name="Google Shape;271;p38"/>
          <p:cNvSpPr txBox="1"/>
          <p:nvPr/>
        </p:nvSpPr>
        <p:spPr>
          <a:xfrm>
            <a:off x="554625" y="277300"/>
            <a:ext cx="81384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lt1"/>
                </a:solidFill>
                <a:latin typeface="Trebuchet MS"/>
                <a:ea typeface="Trebuchet MS"/>
                <a:cs typeface="Trebuchet MS"/>
                <a:sym typeface="Trebuchet MS"/>
              </a:rPr>
              <a:t>Determination of weight and displacement.</a:t>
            </a:r>
            <a:endParaRPr sz="2400" b="1">
              <a:solidFill>
                <a:schemeClr val="lt1"/>
              </a:solidFill>
              <a:latin typeface="Trebuchet MS"/>
              <a:ea typeface="Trebuchet MS"/>
              <a:cs typeface="Trebuchet MS"/>
              <a:sym typeface="Trebuchet MS"/>
            </a:endParaRPr>
          </a:p>
          <a:p>
            <a:pPr marL="0" lvl="0" indent="0" algn="l" rtl="0">
              <a:spcBef>
                <a:spcPts val="0"/>
              </a:spcBef>
              <a:spcAft>
                <a:spcPts val="0"/>
              </a:spcAft>
              <a:buNone/>
            </a:pPr>
            <a:endParaRPr sz="2400" b="1">
              <a:solidFill>
                <a:schemeClr val="lt1"/>
              </a:solidFill>
              <a:latin typeface="Trebuchet MS"/>
              <a:ea typeface="Trebuchet MS"/>
              <a:cs typeface="Trebuchet MS"/>
              <a:sym typeface="Trebuchet MS"/>
            </a:endParaRPr>
          </a:p>
          <a:p>
            <a:pPr marL="457200" lvl="0" indent="-381000" algn="just" rtl="0">
              <a:lnSpc>
                <a:spcPct val="200000"/>
              </a:lnSpc>
              <a:spcBef>
                <a:spcPts val="0"/>
              </a:spcBef>
              <a:spcAft>
                <a:spcPts val="0"/>
              </a:spcAft>
              <a:buClr>
                <a:srgbClr val="000000"/>
              </a:buClr>
              <a:buSzPts val="2400"/>
              <a:buFont typeface="Times New Roman"/>
              <a:buChar char="●"/>
            </a:pPr>
            <a:r>
              <a:rPr lang="en" sz="2400">
                <a:solidFill>
                  <a:srgbClr val="000000"/>
                </a:solidFill>
                <a:highlight>
                  <a:srgbClr val="FFFFFF"/>
                </a:highlight>
                <a:latin typeface="Times New Roman"/>
                <a:ea typeface="Times New Roman"/>
                <a:cs typeface="Times New Roman"/>
                <a:sym typeface="Times New Roman"/>
              </a:rPr>
              <a:t>The mass of the ROV is  18.67425kg</a:t>
            </a:r>
            <a:endParaRPr sz="2400">
              <a:solidFill>
                <a:srgbClr val="000000"/>
              </a:solidFill>
              <a:highlight>
                <a:srgbClr val="FFFFFF"/>
              </a:highlight>
              <a:latin typeface="Times New Roman"/>
              <a:ea typeface="Times New Roman"/>
              <a:cs typeface="Times New Roman"/>
              <a:sym typeface="Times New Roman"/>
            </a:endParaRPr>
          </a:p>
          <a:p>
            <a:pPr marL="457200" lvl="0" indent="-381000" algn="l" rtl="0">
              <a:lnSpc>
                <a:spcPct val="200000"/>
              </a:lnSpc>
              <a:spcBef>
                <a:spcPts val="0"/>
              </a:spcBef>
              <a:spcAft>
                <a:spcPts val="0"/>
              </a:spcAft>
              <a:buClr>
                <a:srgbClr val="000000"/>
              </a:buClr>
              <a:buSzPts val="2400"/>
              <a:buFont typeface="Times New Roman"/>
              <a:buChar char="●"/>
            </a:pPr>
            <a:r>
              <a:rPr lang="en" sz="2400">
                <a:solidFill>
                  <a:srgbClr val="000000"/>
                </a:solidFill>
                <a:highlight>
                  <a:srgbClr val="FFFFFF"/>
                </a:highlight>
                <a:latin typeface="Times New Roman"/>
                <a:ea typeface="Times New Roman"/>
                <a:cs typeface="Times New Roman"/>
                <a:sym typeface="Times New Roman"/>
              </a:rPr>
              <a:t>The weight of the ROV  is  183.1943925N</a:t>
            </a:r>
            <a:endParaRPr sz="2400">
              <a:solidFill>
                <a:srgbClr val="000000"/>
              </a:solidFill>
              <a:highlight>
                <a:srgbClr val="FFFFFF"/>
              </a:highlight>
              <a:latin typeface="Times New Roman"/>
              <a:ea typeface="Times New Roman"/>
              <a:cs typeface="Times New Roman"/>
              <a:sym typeface="Times New Roman"/>
            </a:endParaRPr>
          </a:p>
          <a:p>
            <a:pPr marL="457200" lvl="0" indent="-381000" algn="l" rtl="0">
              <a:lnSpc>
                <a:spcPct val="200000"/>
              </a:lnSpc>
              <a:spcBef>
                <a:spcPts val="0"/>
              </a:spcBef>
              <a:spcAft>
                <a:spcPts val="0"/>
              </a:spcAft>
              <a:buClr>
                <a:srgbClr val="000000"/>
              </a:buClr>
              <a:buSzPts val="2400"/>
              <a:buFont typeface="Times New Roman"/>
              <a:buChar char="●"/>
            </a:pPr>
            <a:r>
              <a:rPr lang="en" sz="2400">
                <a:solidFill>
                  <a:srgbClr val="000000"/>
                </a:solidFill>
                <a:highlight>
                  <a:srgbClr val="FFFFFF"/>
                </a:highlight>
                <a:latin typeface="Times New Roman"/>
                <a:ea typeface="Times New Roman"/>
                <a:cs typeface="Times New Roman"/>
                <a:sym typeface="Times New Roman"/>
              </a:rPr>
              <a:t>The displacement volume of the ROV is 1.127*10^7 mm^3</a:t>
            </a:r>
            <a:endParaRPr sz="2400">
              <a:solidFill>
                <a:srgbClr val="000000"/>
              </a:solidFill>
              <a:highlight>
                <a:srgbClr val="FFFFFF"/>
              </a:highlight>
              <a:latin typeface="Times New Roman"/>
              <a:ea typeface="Times New Roman"/>
              <a:cs typeface="Times New Roman"/>
              <a:sym typeface="Times New Roman"/>
            </a:endParaRPr>
          </a:p>
        </p:txBody>
      </p:sp>
      <p:sp>
        <p:nvSpPr>
          <p:cNvPr id="272" name="Google Shape;272;p38"/>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6"/>
        <p:cNvGrpSpPr/>
        <p:nvPr/>
      </p:nvGrpSpPr>
      <p:grpSpPr>
        <a:xfrm>
          <a:off x="0" y="0"/>
          <a:ext cx="0" cy="0"/>
          <a:chOff x="0" y="0"/>
          <a:chExt cx="0" cy="0"/>
        </a:xfrm>
      </p:grpSpPr>
      <p:sp>
        <p:nvSpPr>
          <p:cNvPr id="277" name="Google Shape;277;p39"/>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278" name="Google Shape;278;p39"/>
          <p:cNvSpPr txBox="1"/>
          <p:nvPr/>
        </p:nvSpPr>
        <p:spPr>
          <a:xfrm>
            <a:off x="177275" y="614900"/>
            <a:ext cx="8138400" cy="2216400"/>
          </a:xfrm>
          <a:prstGeom prst="rect">
            <a:avLst/>
          </a:prstGeom>
          <a:noFill/>
          <a:ln>
            <a:noFill/>
          </a:ln>
        </p:spPr>
        <p:txBody>
          <a:bodyPr spcFirstLastPara="1" wrap="square" lIns="91425" tIns="91425" rIns="91425" bIns="91425" anchor="t" anchorCtr="0">
            <a:spAutoFit/>
          </a:bodyPr>
          <a:lstStyle/>
          <a:p>
            <a:pPr marL="457200" lvl="0" indent="-381000" algn="l" rtl="0">
              <a:lnSpc>
                <a:spcPct val="150000"/>
              </a:lnSpc>
              <a:spcBef>
                <a:spcPts val="0"/>
              </a:spcBef>
              <a:spcAft>
                <a:spcPts val="0"/>
              </a:spcAft>
              <a:buClr>
                <a:srgbClr val="1F1F1F"/>
              </a:buClr>
              <a:buSzPts val="2400"/>
              <a:buFont typeface="Times New Roman"/>
              <a:buChar char="●"/>
            </a:pPr>
            <a:r>
              <a:rPr lang="en" sz="2400">
                <a:solidFill>
                  <a:srgbClr val="1F1F1F"/>
                </a:solidFill>
                <a:latin typeface="Times New Roman"/>
                <a:ea typeface="Times New Roman"/>
                <a:cs typeface="Times New Roman"/>
                <a:sym typeface="Times New Roman"/>
              </a:rPr>
              <a:t>Buoyancy = 8.8e-7N</a:t>
            </a:r>
            <a:endParaRPr sz="2400">
              <a:solidFill>
                <a:srgbClr val="1F1F1F"/>
              </a:solidFill>
              <a:latin typeface="Times New Roman"/>
              <a:ea typeface="Times New Roman"/>
              <a:cs typeface="Times New Roman"/>
              <a:sym typeface="Times New Roman"/>
            </a:endParaRPr>
          </a:p>
          <a:p>
            <a:pPr marL="457200" lvl="0" indent="-381000" algn="l" rtl="0">
              <a:lnSpc>
                <a:spcPct val="150000"/>
              </a:lnSpc>
              <a:spcBef>
                <a:spcPts val="0"/>
              </a:spcBef>
              <a:spcAft>
                <a:spcPts val="0"/>
              </a:spcAft>
              <a:buClr>
                <a:srgbClr val="1F1F1F"/>
              </a:buClr>
              <a:buSzPts val="2400"/>
              <a:buFont typeface="Times New Roman"/>
              <a:buChar char="●"/>
            </a:pPr>
            <a:r>
              <a:rPr lang="en" sz="2400">
                <a:solidFill>
                  <a:srgbClr val="1F1F1F"/>
                </a:solidFill>
                <a:latin typeface="Times New Roman"/>
                <a:ea typeface="Times New Roman"/>
                <a:cs typeface="Times New Roman"/>
                <a:sym typeface="Times New Roman"/>
              </a:rPr>
              <a:t>Force of drag = 14.02N</a:t>
            </a:r>
            <a:endParaRPr sz="2400">
              <a:solidFill>
                <a:srgbClr val="1F1F1F"/>
              </a:solidFill>
              <a:latin typeface="Times New Roman"/>
              <a:ea typeface="Times New Roman"/>
              <a:cs typeface="Times New Roman"/>
              <a:sym typeface="Times New Roman"/>
            </a:endParaRPr>
          </a:p>
          <a:p>
            <a:pPr marL="457200" lvl="0" indent="-381000" algn="l" rtl="0">
              <a:lnSpc>
                <a:spcPct val="150000"/>
              </a:lnSpc>
              <a:spcBef>
                <a:spcPts val="0"/>
              </a:spcBef>
              <a:spcAft>
                <a:spcPts val="0"/>
              </a:spcAft>
              <a:buClr>
                <a:srgbClr val="1F1F1F"/>
              </a:buClr>
              <a:buSzPts val="2400"/>
              <a:buFont typeface="Times New Roman"/>
              <a:buChar char="●"/>
            </a:pPr>
            <a:r>
              <a:rPr lang="en" sz="2400">
                <a:solidFill>
                  <a:srgbClr val="1F1F1F"/>
                </a:solidFill>
                <a:latin typeface="Times New Roman"/>
                <a:ea typeface="Times New Roman"/>
                <a:cs typeface="Times New Roman"/>
                <a:sym typeface="Times New Roman"/>
              </a:rPr>
              <a:t>Power required = 16.08W</a:t>
            </a:r>
            <a:endParaRPr sz="2400">
              <a:solidFill>
                <a:srgbClr val="1F1F1F"/>
              </a:solidFill>
              <a:latin typeface="Times New Roman"/>
              <a:ea typeface="Times New Roman"/>
              <a:cs typeface="Times New Roman"/>
              <a:sym typeface="Times New Roman"/>
            </a:endParaRPr>
          </a:p>
          <a:p>
            <a:pPr marL="457200" lvl="0" indent="-381000" algn="l" rtl="0">
              <a:lnSpc>
                <a:spcPct val="150000"/>
              </a:lnSpc>
              <a:spcBef>
                <a:spcPts val="0"/>
              </a:spcBef>
              <a:spcAft>
                <a:spcPts val="0"/>
              </a:spcAft>
              <a:buClr>
                <a:srgbClr val="1F1F1F"/>
              </a:buClr>
              <a:buSzPts val="2400"/>
              <a:buFont typeface="Times New Roman"/>
              <a:buChar char="●"/>
            </a:pPr>
            <a:r>
              <a:rPr lang="en" sz="2400">
                <a:solidFill>
                  <a:srgbClr val="1F1F1F"/>
                </a:solidFill>
                <a:latin typeface="Times New Roman"/>
                <a:ea typeface="Times New Roman"/>
                <a:cs typeface="Times New Roman"/>
                <a:sym typeface="Times New Roman"/>
              </a:rPr>
              <a:t>Thrust required = 14.02N</a:t>
            </a:r>
            <a:endParaRPr sz="2400">
              <a:solidFill>
                <a:srgbClr val="1F1F1F"/>
              </a:solidFill>
              <a:highlight>
                <a:srgbClr val="FFFFFF"/>
              </a:highlight>
              <a:latin typeface="Times New Roman"/>
              <a:ea typeface="Times New Roman"/>
              <a:cs typeface="Times New Roman"/>
              <a:sym typeface="Times New Roman"/>
            </a:endParaRPr>
          </a:p>
        </p:txBody>
      </p:sp>
      <p:sp>
        <p:nvSpPr>
          <p:cNvPr id="279" name="Google Shape;279;p39"/>
          <p:cNvSpPr txBox="1"/>
          <p:nvPr/>
        </p:nvSpPr>
        <p:spPr>
          <a:xfrm>
            <a:off x="0" y="0"/>
            <a:ext cx="9144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lt1"/>
                </a:solidFill>
                <a:latin typeface="Times New Roman"/>
                <a:ea typeface="Times New Roman"/>
                <a:cs typeface="Times New Roman"/>
                <a:sym typeface="Times New Roman"/>
              </a:rPr>
              <a:t>Calculation of upthrust, Buoyancy, Drag Force, and Thrust Force</a:t>
            </a:r>
            <a:endParaRPr sz="2400" b="1">
              <a:solidFill>
                <a:schemeClr val="lt1"/>
              </a:solidFill>
              <a:latin typeface="Times New Roman"/>
              <a:ea typeface="Times New Roman"/>
              <a:cs typeface="Times New Roman"/>
              <a:sym typeface="Times New Roman"/>
            </a:endParaRPr>
          </a:p>
        </p:txBody>
      </p:sp>
      <p:sp>
        <p:nvSpPr>
          <p:cNvPr id="280" name="Google Shape;280;p39"/>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4"/>
        <p:cNvGrpSpPr/>
        <p:nvPr/>
      </p:nvGrpSpPr>
      <p:grpSpPr>
        <a:xfrm>
          <a:off x="0" y="0"/>
          <a:ext cx="0" cy="0"/>
          <a:chOff x="0" y="0"/>
          <a:chExt cx="0" cy="0"/>
        </a:xfrm>
      </p:grpSpPr>
      <p:sp>
        <p:nvSpPr>
          <p:cNvPr id="285" name="Google Shape;285;p40"/>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286" name="Google Shape;286;p40"/>
          <p:cNvSpPr txBox="1"/>
          <p:nvPr/>
        </p:nvSpPr>
        <p:spPr>
          <a:xfrm>
            <a:off x="0" y="0"/>
            <a:ext cx="9144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lt1"/>
                </a:solidFill>
                <a:latin typeface="Trebuchet MS"/>
                <a:ea typeface="Trebuchet MS"/>
                <a:cs typeface="Trebuchet MS"/>
                <a:sym typeface="Trebuchet MS"/>
              </a:rPr>
              <a:t>Electrical and electronic architecture design.</a:t>
            </a:r>
            <a:endParaRPr sz="2400" b="1">
              <a:solidFill>
                <a:schemeClr val="lt1"/>
              </a:solidFill>
            </a:endParaRPr>
          </a:p>
        </p:txBody>
      </p:sp>
      <p:pic>
        <p:nvPicPr>
          <p:cNvPr id="287" name="Google Shape;287;p40"/>
          <p:cNvPicPr preferRelativeResize="0"/>
          <p:nvPr/>
        </p:nvPicPr>
        <p:blipFill rotWithShape="1">
          <a:blip r:embed="rId4">
            <a:alphaModFix/>
          </a:blip>
          <a:srcRect t="31982"/>
          <a:stretch/>
        </p:blipFill>
        <p:spPr>
          <a:xfrm>
            <a:off x="0" y="930800"/>
            <a:ext cx="8051226" cy="4212700"/>
          </a:xfrm>
          <a:prstGeom prst="rect">
            <a:avLst/>
          </a:prstGeom>
          <a:noFill/>
          <a:ln>
            <a:noFill/>
          </a:ln>
        </p:spPr>
      </p:pic>
      <p:sp>
        <p:nvSpPr>
          <p:cNvPr id="288" name="Google Shape;288;p40"/>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2"/>
        <p:cNvGrpSpPr/>
        <p:nvPr/>
      </p:nvGrpSpPr>
      <p:grpSpPr>
        <a:xfrm>
          <a:off x="0" y="0"/>
          <a:ext cx="0" cy="0"/>
          <a:chOff x="0" y="0"/>
          <a:chExt cx="0" cy="0"/>
        </a:xfrm>
      </p:grpSpPr>
      <p:sp>
        <p:nvSpPr>
          <p:cNvPr id="293" name="Google Shape;293;p41"/>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294" name="Google Shape;294;p41"/>
          <p:cNvSpPr txBox="1"/>
          <p:nvPr/>
        </p:nvSpPr>
        <p:spPr>
          <a:xfrm>
            <a:off x="0" y="0"/>
            <a:ext cx="9144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lt1"/>
                </a:solidFill>
                <a:latin typeface="Trebuchet MS"/>
                <a:ea typeface="Trebuchet MS"/>
                <a:cs typeface="Trebuchet MS"/>
                <a:sym typeface="Trebuchet MS"/>
              </a:rPr>
              <a:t>Electrical and electronic architecture design.</a:t>
            </a:r>
            <a:endParaRPr sz="2400" b="1">
              <a:solidFill>
                <a:schemeClr val="lt1"/>
              </a:solidFill>
            </a:endParaRPr>
          </a:p>
        </p:txBody>
      </p:sp>
      <p:pic>
        <p:nvPicPr>
          <p:cNvPr id="295" name="Google Shape;295;p41"/>
          <p:cNvPicPr preferRelativeResize="0"/>
          <p:nvPr/>
        </p:nvPicPr>
        <p:blipFill>
          <a:blip r:embed="rId4">
            <a:alphaModFix/>
          </a:blip>
          <a:stretch>
            <a:fillRect/>
          </a:stretch>
        </p:blipFill>
        <p:spPr>
          <a:xfrm>
            <a:off x="0" y="616925"/>
            <a:ext cx="8729250" cy="4526576"/>
          </a:xfrm>
          <a:prstGeom prst="rect">
            <a:avLst/>
          </a:prstGeom>
          <a:noFill/>
          <a:ln>
            <a:noFill/>
          </a:ln>
        </p:spPr>
      </p:pic>
      <p:sp>
        <p:nvSpPr>
          <p:cNvPr id="296" name="Google Shape;296;p41"/>
          <p:cNvSpPr/>
          <p:nvPr/>
        </p:nvSpPr>
        <p:spPr>
          <a:xfrm>
            <a:off x="-72800" y="0"/>
            <a:ext cx="182100" cy="206100"/>
          </a:xfrm>
          <a:prstGeom prst="ellipse">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0"/>
        <p:cNvGrpSpPr/>
        <p:nvPr/>
      </p:nvGrpSpPr>
      <p:grpSpPr>
        <a:xfrm>
          <a:off x="0" y="0"/>
          <a:ext cx="0" cy="0"/>
          <a:chOff x="0" y="0"/>
          <a:chExt cx="0" cy="0"/>
        </a:xfrm>
      </p:grpSpPr>
      <p:sp>
        <p:nvSpPr>
          <p:cNvPr id="301" name="Google Shape;301;p42"/>
          <p:cNvSpPr/>
          <p:nvPr/>
        </p:nvSpPr>
        <p:spPr>
          <a:xfrm>
            <a:off x="3508800" y="373075"/>
            <a:ext cx="2126400" cy="8040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302" name="Google Shape;302;p42"/>
          <p:cNvSpPr txBox="1"/>
          <p:nvPr/>
        </p:nvSpPr>
        <p:spPr>
          <a:xfrm>
            <a:off x="3582550" y="451825"/>
            <a:ext cx="2126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solidFill>
                  <a:schemeClr val="dk1"/>
                </a:solidFill>
                <a:latin typeface="Times New Roman"/>
                <a:ea typeface="Times New Roman"/>
                <a:cs typeface="Times New Roman"/>
                <a:sym typeface="Times New Roman"/>
              </a:rPr>
              <a:t>Conclusion</a:t>
            </a:r>
            <a:endParaRPr sz="3000" b="1">
              <a:solidFill>
                <a:schemeClr val="dk1"/>
              </a:solidFill>
              <a:latin typeface="Times New Roman"/>
              <a:ea typeface="Times New Roman"/>
              <a:cs typeface="Times New Roman"/>
              <a:sym typeface="Times New Roman"/>
            </a:endParaRPr>
          </a:p>
        </p:txBody>
      </p:sp>
      <p:sp>
        <p:nvSpPr>
          <p:cNvPr id="303" name="Google Shape;303;p42"/>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12121"/>
                </a:solidFill>
                <a:latin typeface="Times New Roman"/>
                <a:ea typeface="Times New Roman"/>
                <a:cs typeface="Times New Roman"/>
                <a:sym typeface="Times New Roman"/>
              </a:rPr>
              <a:t>@2024</a:t>
            </a:r>
            <a:endParaRPr sz="1200">
              <a:solidFill>
                <a:srgbClr val="212121"/>
              </a:solidFill>
              <a:latin typeface="Times New Roman"/>
              <a:ea typeface="Times New Roman"/>
              <a:cs typeface="Times New Roman"/>
              <a:sym typeface="Times New Roman"/>
            </a:endParaRPr>
          </a:p>
        </p:txBody>
      </p:sp>
      <p:sp>
        <p:nvSpPr>
          <p:cNvPr id="304" name="Google Shape;304;p42"/>
          <p:cNvSpPr txBox="1"/>
          <p:nvPr/>
        </p:nvSpPr>
        <p:spPr>
          <a:xfrm>
            <a:off x="846000" y="1569750"/>
            <a:ext cx="7452000" cy="203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2000">
                <a:solidFill>
                  <a:srgbClr val="212121"/>
                </a:solidFill>
                <a:latin typeface="Times New Roman"/>
                <a:ea typeface="Times New Roman"/>
                <a:cs typeface="Times New Roman"/>
                <a:sym typeface="Times New Roman"/>
              </a:rPr>
              <a:t>The use of ROVs for underwater inspection exercises is a potential solution to challenges of hull inspection. This report proposes specific objectives which include the design, fabrication and testing of a control system of an underwater ROV.</a:t>
            </a:r>
            <a:endParaRPr sz="2000">
              <a:solidFill>
                <a:srgbClr val="212121"/>
              </a:solidFill>
              <a:latin typeface="Times New Roman"/>
              <a:ea typeface="Times New Roman"/>
              <a:cs typeface="Times New Roman"/>
              <a:sym typeface="Times New Roman"/>
            </a:endParaRPr>
          </a:p>
        </p:txBody>
      </p:sp>
      <p:sp>
        <p:nvSpPr>
          <p:cNvPr id="305" name="Google Shape;305;p42"/>
          <p:cNvSpPr/>
          <p:nvPr/>
        </p:nvSpPr>
        <p:spPr>
          <a:xfrm>
            <a:off x="0" y="88375"/>
            <a:ext cx="182100" cy="206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9"/>
        <p:cNvGrpSpPr/>
        <p:nvPr/>
      </p:nvGrpSpPr>
      <p:grpSpPr>
        <a:xfrm>
          <a:off x="0" y="0"/>
          <a:ext cx="0" cy="0"/>
          <a:chOff x="0" y="0"/>
          <a:chExt cx="0" cy="0"/>
        </a:xfrm>
      </p:grpSpPr>
      <p:sp>
        <p:nvSpPr>
          <p:cNvPr id="310" name="Google Shape;310;p43"/>
          <p:cNvSpPr/>
          <p:nvPr/>
        </p:nvSpPr>
        <p:spPr>
          <a:xfrm>
            <a:off x="2973100" y="2169750"/>
            <a:ext cx="3975900" cy="8040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11;p43"/>
          <p:cNvSpPr txBox="1"/>
          <p:nvPr/>
        </p:nvSpPr>
        <p:spPr>
          <a:xfrm>
            <a:off x="3905825" y="2263950"/>
            <a:ext cx="2795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dk1"/>
                </a:solidFill>
                <a:latin typeface="Comfortaa"/>
                <a:ea typeface="Comfortaa"/>
                <a:cs typeface="Comfortaa"/>
                <a:sym typeface="Comfortaa"/>
              </a:rPr>
              <a:t>Time plan</a:t>
            </a:r>
            <a:endParaRPr sz="2800" b="1">
              <a:solidFill>
                <a:schemeClr val="dk1"/>
              </a:solidFill>
              <a:latin typeface="Comfortaa"/>
              <a:ea typeface="Comfortaa"/>
              <a:cs typeface="Comfortaa"/>
              <a:sym typeface="Comfortaa"/>
            </a:endParaRPr>
          </a:p>
        </p:txBody>
      </p:sp>
      <p:pic>
        <p:nvPicPr>
          <p:cNvPr id="312" name="Google Shape;312;p43"/>
          <p:cNvPicPr preferRelativeResize="0"/>
          <p:nvPr/>
        </p:nvPicPr>
        <p:blipFill>
          <a:blip r:embed="rId4">
            <a:alphaModFix/>
          </a:blip>
          <a:stretch>
            <a:fillRect/>
          </a:stretch>
        </p:blipFill>
        <p:spPr>
          <a:xfrm>
            <a:off x="3217025" y="2263950"/>
            <a:ext cx="615600" cy="615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16"/>
        <p:cNvGrpSpPr/>
        <p:nvPr/>
      </p:nvGrpSpPr>
      <p:grpSpPr>
        <a:xfrm>
          <a:off x="0" y="0"/>
          <a:ext cx="0" cy="0"/>
          <a:chOff x="0" y="0"/>
          <a:chExt cx="0" cy="0"/>
        </a:xfrm>
      </p:grpSpPr>
      <p:graphicFrame>
        <p:nvGraphicFramePr>
          <p:cNvPr id="317" name="Google Shape;317;p44"/>
          <p:cNvGraphicFramePr/>
          <p:nvPr/>
        </p:nvGraphicFramePr>
        <p:xfrm>
          <a:off x="152400" y="152400"/>
          <a:ext cx="3000000" cy="3000000"/>
        </p:xfrm>
        <a:graphic>
          <a:graphicData uri="http://schemas.openxmlformats.org/drawingml/2006/table">
            <a:tbl>
              <a:tblPr bandRow="1">
                <a:noFill/>
                <a:tableStyleId>{68976688-196A-4A89-BB7A-4BE9F574FAF7}</a:tableStyleId>
              </a:tblPr>
              <a:tblGrid>
                <a:gridCol w="1975025">
                  <a:extLst>
                    <a:ext uri="{9D8B030D-6E8A-4147-A177-3AD203B41FA5}">
                      <a16:colId xmlns:a16="http://schemas.microsoft.com/office/drawing/2014/main" val="20000"/>
                    </a:ext>
                  </a:extLst>
                </a:gridCol>
                <a:gridCol w="896550">
                  <a:extLst>
                    <a:ext uri="{9D8B030D-6E8A-4147-A177-3AD203B41FA5}">
                      <a16:colId xmlns:a16="http://schemas.microsoft.com/office/drawing/2014/main" val="20001"/>
                    </a:ext>
                  </a:extLst>
                </a:gridCol>
                <a:gridCol w="727650">
                  <a:extLst>
                    <a:ext uri="{9D8B030D-6E8A-4147-A177-3AD203B41FA5}">
                      <a16:colId xmlns:a16="http://schemas.microsoft.com/office/drawing/2014/main" val="20002"/>
                    </a:ext>
                  </a:extLst>
                </a:gridCol>
                <a:gridCol w="961525">
                  <a:extLst>
                    <a:ext uri="{9D8B030D-6E8A-4147-A177-3AD203B41FA5}">
                      <a16:colId xmlns:a16="http://schemas.microsoft.com/office/drawing/2014/main" val="20003"/>
                    </a:ext>
                  </a:extLst>
                </a:gridCol>
                <a:gridCol w="961525">
                  <a:extLst>
                    <a:ext uri="{9D8B030D-6E8A-4147-A177-3AD203B41FA5}">
                      <a16:colId xmlns:a16="http://schemas.microsoft.com/office/drawing/2014/main" val="20004"/>
                    </a:ext>
                  </a:extLst>
                </a:gridCol>
                <a:gridCol w="844575">
                  <a:extLst>
                    <a:ext uri="{9D8B030D-6E8A-4147-A177-3AD203B41FA5}">
                      <a16:colId xmlns:a16="http://schemas.microsoft.com/office/drawing/2014/main" val="20005"/>
                    </a:ext>
                  </a:extLst>
                </a:gridCol>
                <a:gridCol w="831600">
                  <a:extLst>
                    <a:ext uri="{9D8B030D-6E8A-4147-A177-3AD203B41FA5}">
                      <a16:colId xmlns:a16="http://schemas.microsoft.com/office/drawing/2014/main" val="20006"/>
                    </a:ext>
                  </a:extLst>
                </a:gridCol>
                <a:gridCol w="831600">
                  <a:extLst>
                    <a:ext uri="{9D8B030D-6E8A-4147-A177-3AD203B41FA5}">
                      <a16:colId xmlns:a16="http://schemas.microsoft.com/office/drawing/2014/main" val="20007"/>
                    </a:ext>
                  </a:extLst>
                </a:gridCol>
                <a:gridCol w="961525">
                  <a:extLst>
                    <a:ext uri="{9D8B030D-6E8A-4147-A177-3AD203B41FA5}">
                      <a16:colId xmlns:a16="http://schemas.microsoft.com/office/drawing/2014/main" val="20008"/>
                    </a:ext>
                  </a:extLst>
                </a:gridCol>
              </a:tblGrid>
              <a:tr h="445800">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000000"/>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May</a:t>
                      </a:r>
                      <a:endParaRPr sz="1000"/>
                    </a:p>
                  </a:txBody>
                  <a:tcPr marL="25400" marR="25400" marT="25400" marB="2540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June</a:t>
                      </a:r>
                      <a:endParaRPr sz="1000"/>
                    </a:p>
                  </a:txBody>
                  <a:tcPr marL="25400" marR="25400" marT="25400" marB="2540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July</a:t>
                      </a:r>
                      <a:endParaRPr sz="1000"/>
                    </a:p>
                  </a:txBody>
                  <a:tcPr marL="25400" marR="25400" marT="25400" marB="2540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August</a:t>
                      </a:r>
                      <a:endParaRPr sz="1000"/>
                    </a:p>
                  </a:txBody>
                  <a:tcPr marL="25400" marR="25400" marT="25400" marB="2540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September</a:t>
                      </a:r>
                      <a:endParaRPr sz="1000"/>
                    </a:p>
                  </a:txBody>
                  <a:tcPr marL="25400" marR="25400" marT="25400" marB="2540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October</a:t>
                      </a:r>
                      <a:endParaRPr sz="1000"/>
                    </a:p>
                  </a:txBody>
                  <a:tcPr marL="25400" marR="25400" marT="25400" marB="2540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November</a:t>
                      </a:r>
                      <a:endParaRPr sz="1000"/>
                    </a:p>
                  </a:txBody>
                  <a:tcPr marL="25400" marR="25400" marT="25400" marB="2540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December</a:t>
                      </a:r>
                      <a:endParaRPr sz="1000"/>
                    </a:p>
                  </a:txBody>
                  <a:tcPr marL="25400" marR="25400" marT="25400" marB="25400" anchor="b">
                    <a:lnL w="7625" cap="flat" cmpd="sng">
                      <a:solidFill>
                        <a:srgbClr val="CCCCCC"/>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644600">
                <a:tc>
                  <a:txBody>
                    <a:bodyPr/>
                    <a:lstStyle/>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Literature Review</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txBody>
                  <a:tcPr marL="25400" marR="25400" marT="25400" marB="25400" anchor="b">
                    <a:lnL w="7625" cap="flat" cmpd="sng">
                      <a:solidFill>
                        <a:srgbClr val="000000"/>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extLst>
                  <a:ext uri="{0D108BD9-81ED-4DB2-BD59-A6C34878D82A}">
                    <a16:rowId xmlns:a16="http://schemas.microsoft.com/office/drawing/2014/main" val="10001"/>
                  </a:ext>
                </a:extLst>
              </a:tr>
              <a:tr h="644600">
                <a:tc>
                  <a:txBody>
                    <a:bodyPr/>
                    <a:lstStyle/>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Main structural design</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txBody>
                  <a:tcPr marL="25400" marR="25400" marT="25400" marB="25400" anchor="b">
                    <a:lnL w="7625" cap="flat" cmpd="sng">
                      <a:solidFill>
                        <a:srgbClr val="000000"/>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644600">
                <a:tc>
                  <a:txBody>
                    <a:bodyPr/>
                    <a:lstStyle/>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Electronic design</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txBody>
                  <a:tcPr marL="25400" marR="25400" marT="25400" marB="25400" anchor="b">
                    <a:lnL w="7625" cap="flat" cmpd="sng">
                      <a:solidFill>
                        <a:srgbClr val="000000"/>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843400">
                <a:tc>
                  <a:txBody>
                    <a:bodyPr/>
                    <a:lstStyle/>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Raspberry implementation</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txBody>
                  <a:tcPr marL="25400" marR="25400" marT="25400" marB="25400" anchor="b">
                    <a:lnL w="7625" cap="flat" cmpd="sng">
                      <a:solidFill>
                        <a:srgbClr val="000000"/>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644600">
                <a:tc>
                  <a:txBody>
                    <a:bodyPr/>
                    <a:lstStyle/>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Assembly</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txBody>
                  <a:tcPr marL="25400" marR="25400" marT="25400" marB="25400" anchor="b">
                    <a:lnL w="7625" cap="flat" cmpd="sng">
                      <a:solidFill>
                        <a:srgbClr val="000000"/>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644600">
                <a:tc>
                  <a:txBody>
                    <a:bodyPr/>
                    <a:lstStyle/>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Testing</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txBody>
                  <a:tcPr marL="25400" marR="25400" marT="25400" marB="25400" anchor="b">
                    <a:lnL w="7625" cap="flat" cmpd="sng">
                      <a:solidFill>
                        <a:srgbClr val="000000"/>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478925">
                <a:tc>
                  <a:txBody>
                    <a:bodyPr/>
                    <a:lstStyle/>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Final Presentation</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a:txBody>
                  <a:tcPr marL="25400" marR="25400" marT="25400" marB="25400" anchor="b">
                    <a:lnL w="7625" cap="flat" cmpd="sng">
                      <a:solidFill>
                        <a:srgbClr val="000000"/>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000"/>
                    </a:p>
                  </a:txBody>
                  <a:tcPr marL="25400" marR="25400" marT="25400" marB="25400">
                    <a:lnL w="7625" cap="flat" cmpd="sng">
                      <a:solidFill>
                        <a:srgbClr val="CCCCCC"/>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000000"/>
                      </a:solidFill>
                      <a:prstDash val="solid"/>
                      <a:round/>
                      <a:headEnd type="none" w="sm" len="sm"/>
                      <a:tailEnd type="none" w="sm" len="sm"/>
                    </a:lnB>
                    <a:solidFill>
                      <a:srgbClr val="F6B26B"/>
                    </a:solidFill>
                  </a:tcPr>
                </a:tc>
                <a:extLst>
                  <a:ext uri="{0D108BD9-81ED-4DB2-BD59-A6C34878D82A}">
                    <a16:rowId xmlns:a16="http://schemas.microsoft.com/office/drawing/2014/main" val="10007"/>
                  </a:ext>
                </a:extLst>
              </a:tr>
            </a:tbl>
          </a:graphicData>
        </a:graphic>
      </p:graphicFrame>
      <p:sp>
        <p:nvSpPr>
          <p:cNvPr id="318" name="Google Shape;318;p44"/>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2"/>
        <p:cNvGrpSpPr/>
        <p:nvPr/>
      </p:nvGrpSpPr>
      <p:grpSpPr>
        <a:xfrm>
          <a:off x="0" y="0"/>
          <a:ext cx="0" cy="0"/>
          <a:chOff x="0" y="0"/>
          <a:chExt cx="0" cy="0"/>
        </a:xfrm>
      </p:grpSpPr>
      <p:graphicFrame>
        <p:nvGraphicFramePr>
          <p:cNvPr id="323" name="Google Shape;323;p45"/>
          <p:cNvGraphicFramePr/>
          <p:nvPr/>
        </p:nvGraphicFramePr>
        <p:xfrm>
          <a:off x="231813" y="2081838"/>
          <a:ext cx="3000000" cy="3000000"/>
        </p:xfrm>
        <a:graphic>
          <a:graphicData uri="http://schemas.openxmlformats.org/drawingml/2006/table">
            <a:tbl>
              <a:tblPr bandRow="1">
                <a:noFill/>
                <a:tableStyleId>{68976688-196A-4A89-BB7A-4BE9F574FAF7}</a:tableStyleId>
              </a:tblPr>
              <a:tblGrid>
                <a:gridCol w="2643675">
                  <a:extLst>
                    <a:ext uri="{9D8B030D-6E8A-4147-A177-3AD203B41FA5}">
                      <a16:colId xmlns:a16="http://schemas.microsoft.com/office/drawing/2014/main" val="20000"/>
                    </a:ext>
                  </a:extLst>
                </a:gridCol>
                <a:gridCol w="219050">
                  <a:extLst>
                    <a:ext uri="{9D8B030D-6E8A-4147-A177-3AD203B41FA5}">
                      <a16:colId xmlns:a16="http://schemas.microsoft.com/office/drawing/2014/main" val="20001"/>
                    </a:ext>
                  </a:extLst>
                </a:gridCol>
                <a:gridCol w="712725">
                  <a:extLst>
                    <a:ext uri="{9D8B030D-6E8A-4147-A177-3AD203B41FA5}">
                      <a16:colId xmlns:a16="http://schemas.microsoft.com/office/drawing/2014/main" val="20002"/>
                    </a:ext>
                  </a:extLst>
                </a:gridCol>
                <a:gridCol w="949800">
                  <a:extLst>
                    <a:ext uri="{9D8B030D-6E8A-4147-A177-3AD203B41FA5}">
                      <a16:colId xmlns:a16="http://schemas.microsoft.com/office/drawing/2014/main" val="20003"/>
                    </a:ext>
                  </a:extLst>
                </a:gridCol>
                <a:gridCol w="949800">
                  <a:extLst>
                    <a:ext uri="{9D8B030D-6E8A-4147-A177-3AD203B41FA5}">
                      <a16:colId xmlns:a16="http://schemas.microsoft.com/office/drawing/2014/main" val="20004"/>
                    </a:ext>
                  </a:extLst>
                </a:gridCol>
                <a:gridCol w="830800">
                  <a:extLst>
                    <a:ext uri="{9D8B030D-6E8A-4147-A177-3AD203B41FA5}">
                      <a16:colId xmlns:a16="http://schemas.microsoft.com/office/drawing/2014/main" val="20005"/>
                    </a:ext>
                  </a:extLst>
                </a:gridCol>
                <a:gridCol w="830800">
                  <a:extLst>
                    <a:ext uri="{9D8B030D-6E8A-4147-A177-3AD203B41FA5}">
                      <a16:colId xmlns:a16="http://schemas.microsoft.com/office/drawing/2014/main" val="20006"/>
                    </a:ext>
                  </a:extLst>
                </a:gridCol>
                <a:gridCol w="831625">
                  <a:extLst>
                    <a:ext uri="{9D8B030D-6E8A-4147-A177-3AD203B41FA5}">
                      <a16:colId xmlns:a16="http://schemas.microsoft.com/office/drawing/2014/main" val="20007"/>
                    </a:ext>
                  </a:extLst>
                </a:gridCol>
                <a:gridCol w="949800">
                  <a:extLst>
                    <a:ext uri="{9D8B030D-6E8A-4147-A177-3AD203B41FA5}">
                      <a16:colId xmlns:a16="http://schemas.microsoft.com/office/drawing/2014/main" val="20008"/>
                    </a:ext>
                  </a:extLst>
                </a:gridCol>
              </a:tblGrid>
              <a:tr h="545750">
                <a:tc>
                  <a:txBody>
                    <a:bodyPr/>
                    <a:lstStyle/>
                    <a:p>
                      <a:pPr marL="0" lvl="0" indent="0" algn="ctr" rtl="0">
                        <a:lnSpc>
                          <a:spcPct val="150000"/>
                        </a:lnSpc>
                        <a:spcBef>
                          <a:spcPts val="0"/>
                        </a:spcBef>
                        <a:spcAft>
                          <a:spcPts val="0"/>
                        </a:spcAft>
                        <a:buNone/>
                      </a:pPr>
                      <a:r>
                        <a:rPr lang="en" sz="2000">
                          <a:solidFill>
                            <a:schemeClr val="lt1"/>
                          </a:solidFill>
                          <a:highlight>
                            <a:schemeClr val="dk1"/>
                          </a:highlight>
                          <a:latin typeface="Times New Roman"/>
                          <a:ea typeface="Times New Roman"/>
                          <a:cs typeface="Times New Roman"/>
                          <a:sym typeface="Times New Roman"/>
                        </a:rPr>
                        <a:t>Power supply</a:t>
                      </a:r>
                      <a:endParaRPr>
                        <a:latin typeface="Times New Roman"/>
                        <a:ea typeface="Times New Roman"/>
                        <a:cs typeface="Times New Roman"/>
                        <a:sym typeface="Times New Roman"/>
                      </a:endParaRPr>
                    </a:p>
                  </a:txBody>
                  <a:tcPr marL="9525" marR="9525" marT="9525" marB="9525"/>
                </a:tc>
                <a:tc gridSpan="8">
                  <a:txBody>
                    <a:bodyPr/>
                    <a:lstStyle/>
                    <a:p>
                      <a:pPr marL="0" lvl="0" indent="0" algn="l" rtl="0">
                        <a:lnSpc>
                          <a:spcPct val="150000"/>
                        </a:lnSpc>
                        <a:spcBef>
                          <a:spcPts val="0"/>
                        </a:spcBef>
                        <a:spcAft>
                          <a:spcPts val="0"/>
                        </a:spcAft>
                        <a:buNone/>
                      </a:pPr>
                      <a:r>
                        <a:rPr lang="en" sz="2000">
                          <a:solidFill>
                            <a:srgbClr val="212121"/>
                          </a:solidFill>
                          <a:highlight>
                            <a:schemeClr val="dk1"/>
                          </a:highlight>
                          <a:latin typeface="Times New Roman"/>
                          <a:ea typeface="Times New Roman"/>
                          <a:cs typeface="Times New Roman"/>
                          <a:sym typeface="Times New Roman"/>
                        </a:rPr>
                        <a:t>                                       KES 1560</a:t>
                      </a:r>
                      <a:endParaRPr sz="1200">
                        <a:solidFill>
                          <a:srgbClr val="212121"/>
                        </a:solidFill>
                        <a:highlight>
                          <a:schemeClr val="dk1"/>
                        </a:highlight>
                        <a:latin typeface="Times New Roman"/>
                        <a:ea typeface="Times New Roman"/>
                        <a:cs typeface="Times New Roman"/>
                        <a:sym typeface="Times New Roman"/>
                      </a:endParaRPr>
                    </a:p>
                  </a:txBody>
                  <a:tcPr marL="9525" marR="9525" marT="9525" marB="9525">
                    <a:solidFill>
                      <a:schemeClr val="dk1"/>
                    </a:solidFill>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extLst>
                  <a:ext uri="{0D108BD9-81ED-4DB2-BD59-A6C34878D82A}">
                    <a16:rowId xmlns:a16="http://schemas.microsoft.com/office/drawing/2014/main" val="10000"/>
                  </a:ext>
                </a:extLst>
              </a:tr>
              <a:tr h="545750">
                <a:tc>
                  <a:txBody>
                    <a:bodyPr/>
                    <a:lstStyle/>
                    <a:p>
                      <a:pPr marL="0" lvl="0" indent="0" algn="ctr" rtl="0">
                        <a:lnSpc>
                          <a:spcPct val="150000"/>
                        </a:lnSpc>
                        <a:spcBef>
                          <a:spcPts val="0"/>
                        </a:spcBef>
                        <a:spcAft>
                          <a:spcPts val="0"/>
                        </a:spcAft>
                        <a:buNone/>
                      </a:pPr>
                      <a:r>
                        <a:rPr lang="en" sz="2000">
                          <a:solidFill>
                            <a:schemeClr val="lt1"/>
                          </a:solidFill>
                          <a:highlight>
                            <a:schemeClr val="dk1"/>
                          </a:highlight>
                          <a:latin typeface="Times New Roman"/>
                          <a:ea typeface="Times New Roman"/>
                          <a:cs typeface="Times New Roman"/>
                          <a:sym typeface="Times New Roman"/>
                        </a:rPr>
                        <a:t>Electronics</a:t>
                      </a:r>
                      <a:endParaRPr>
                        <a:latin typeface="Times New Roman"/>
                        <a:ea typeface="Times New Roman"/>
                        <a:cs typeface="Times New Roman"/>
                        <a:sym typeface="Times New Roman"/>
                      </a:endParaRPr>
                    </a:p>
                  </a:txBody>
                  <a:tcPr marL="9525" marR="9525" marT="9525" marB="9525"/>
                </a:tc>
                <a:tc gridSpan="8">
                  <a:txBody>
                    <a:bodyPr/>
                    <a:lstStyle/>
                    <a:p>
                      <a:pPr marL="0" lvl="0" indent="0" algn="l" rtl="0">
                        <a:lnSpc>
                          <a:spcPct val="150000"/>
                        </a:lnSpc>
                        <a:spcBef>
                          <a:spcPts val="0"/>
                        </a:spcBef>
                        <a:spcAft>
                          <a:spcPts val="0"/>
                        </a:spcAft>
                        <a:buNone/>
                      </a:pPr>
                      <a:r>
                        <a:rPr lang="en" sz="2000">
                          <a:solidFill>
                            <a:srgbClr val="212121"/>
                          </a:solidFill>
                          <a:highlight>
                            <a:schemeClr val="dk1"/>
                          </a:highlight>
                          <a:latin typeface="Times New Roman"/>
                          <a:ea typeface="Times New Roman"/>
                          <a:cs typeface="Times New Roman"/>
                          <a:sym typeface="Times New Roman"/>
                        </a:rPr>
                        <a:t>                                       KES 3180</a:t>
                      </a:r>
                      <a:endParaRPr sz="1200">
                        <a:solidFill>
                          <a:srgbClr val="212121"/>
                        </a:solidFill>
                        <a:highlight>
                          <a:schemeClr val="dk1"/>
                        </a:highlight>
                        <a:latin typeface="Times New Roman"/>
                        <a:ea typeface="Times New Roman"/>
                        <a:cs typeface="Times New Roman"/>
                        <a:sym typeface="Times New Roman"/>
                      </a:endParaRPr>
                    </a:p>
                  </a:txBody>
                  <a:tcPr marL="9525" marR="9525" marT="9525" marB="9525">
                    <a:solidFill>
                      <a:schemeClr val="dk1"/>
                    </a:solidFill>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extLst>
                  <a:ext uri="{0D108BD9-81ED-4DB2-BD59-A6C34878D82A}">
                    <a16:rowId xmlns:a16="http://schemas.microsoft.com/office/drawing/2014/main" val="10001"/>
                  </a:ext>
                </a:extLst>
              </a:tr>
              <a:tr h="545750">
                <a:tc>
                  <a:txBody>
                    <a:bodyPr/>
                    <a:lstStyle/>
                    <a:p>
                      <a:pPr marL="0" lvl="0" indent="0" algn="ctr" rtl="0">
                        <a:lnSpc>
                          <a:spcPct val="150000"/>
                        </a:lnSpc>
                        <a:spcBef>
                          <a:spcPts val="0"/>
                        </a:spcBef>
                        <a:spcAft>
                          <a:spcPts val="0"/>
                        </a:spcAft>
                        <a:buNone/>
                      </a:pPr>
                      <a:r>
                        <a:rPr lang="en" sz="2000">
                          <a:solidFill>
                            <a:schemeClr val="lt1"/>
                          </a:solidFill>
                          <a:latin typeface="Times New Roman"/>
                          <a:ea typeface="Times New Roman"/>
                          <a:cs typeface="Times New Roman"/>
                          <a:sym typeface="Times New Roman"/>
                        </a:rPr>
                        <a:t>Propulsion system</a:t>
                      </a:r>
                      <a:endParaRPr>
                        <a:latin typeface="Times New Roman"/>
                        <a:ea typeface="Times New Roman"/>
                        <a:cs typeface="Times New Roman"/>
                        <a:sym typeface="Times New Roman"/>
                      </a:endParaRPr>
                    </a:p>
                  </a:txBody>
                  <a:tcPr marL="9525" marR="9525" marT="9525" marB="9525"/>
                </a:tc>
                <a:tc gridSpan="8">
                  <a:txBody>
                    <a:bodyPr/>
                    <a:lstStyle/>
                    <a:p>
                      <a:pPr marL="0" lvl="0" indent="0" algn="l" rtl="0">
                        <a:lnSpc>
                          <a:spcPct val="150000"/>
                        </a:lnSpc>
                        <a:spcBef>
                          <a:spcPts val="0"/>
                        </a:spcBef>
                        <a:spcAft>
                          <a:spcPts val="0"/>
                        </a:spcAft>
                        <a:buNone/>
                      </a:pPr>
                      <a:r>
                        <a:rPr lang="en" sz="2000">
                          <a:solidFill>
                            <a:srgbClr val="212121"/>
                          </a:solidFill>
                          <a:highlight>
                            <a:schemeClr val="dk1"/>
                          </a:highlight>
                          <a:latin typeface="Times New Roman"/>
                          <a:ea typeface="Times New Roman"/>
                          <a:cs typeface="Times New Roman"/>
                          <a:sym typeface="Times New Roman"/>
                        </a:rPr>
                        <a:t>                                       KES 6000</a:t>
                      </a:r>
                      <a:endParaRPr sz="1200">
                        <a:solidFill>
                          <a:srgbClr val="212121"/>
                        </a:solidFill>
                        <a:highlight>
                          <a:schemeClr val="dk1"/>
                        </a:highlight>
                        <a:latin typeface="Times New Roman"/>
                        <a:ea typeface="Times New Roman"/>
                        <a:cs typeface="Times New Roman"/>
                        <a:sym typeface="Times New Roman"/>
                      </a:endParaRPr>
                    </a:p>
                  </a:txBody>
                  <a:tcPr marL="9525" marR="9525" marT="9525" marB="9525">
                    <a:solidFill>
                      <a:schemeClr val="dk1"/>
                    </a:solidFill>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extLst>
                  <a:ext uri="{0D108BD9-81ED-4DB2-BD59-A6C34878D82A}">
                    <a16:rowId xmlns:a16="http://schemas.microsoft.com/office/drawing/2014/main" val="10002"/>
                  </a:ext>
                </a:extLst>
              </a:tr>
              <a:tr h="545750">
                <a:tc>
                  <a:txBody>
                    <a:bodyPr/>
                    <a:lstStyle/>
                    <a:p>
                      <a:pPr marL="0" lvl="0" indent="0" algn="ctr" rtl="0">
                        <a:lnSpc>
                          <a:spcPct val="150000"/>
                        </a:lnSpc>
                        <a:spcBef>
                          <a:spcPts val="0"/>
                        </a:spcBef>
                        <a:spcAft>
                          <a:spcPts val="0"/>
                        </a:spcAft>
                        <a:buNone/>
                      </a:pPr>
                      <a:r>
                        <a:rPr lang="en" sz="2000">
                          <a:solidFill>
                            <a:schemeClr val="lt1"/>
                          </a:solidFill>
                          <a:latin typeface="Times New Roman"/>
                          <a:ea typeface="Times New Roman"/>
                          <a:cs typeface="Times New Roman"/>
                          <a:sym typeface="Times New Roman"/>
                        </a:rPr>
                        <a:t>Total</a:t>
                      </a:r>
                      <a:endParaRPr sz="2000">
                        <a:solidFill>
                          <a:schemeClr val="lt1"/>
                        </a:solidFill>
                        <a:latin typeface="Times New Roman"/>
                        <a:ea typeface="Times New Roman"/>
                        <a:cs typeface="Times New Roman"/>
                        <a:sym typeface="Times New Roman"/>
                      </a:endParaRPr>
                    </a:p>
                  </a:txBody>
                  <a:tcPr marL="9525" marR="9525" marT="9525" marB="9525"/>
                </a:tc>
                <a:tc gridSpan="8">
                  <a:txBody>
                    <a:bodyPr/>
                    <a:lstStyle/>
                    <a:p>
                      <a:pPr marL="0" lvl="0" indent="0" algn="ctr" rtl="0">
                        <a:lnSpc>
                          <a:spcPct val="150000"/>
                        </a:lnSpc>
                        <a:spcBef>
                          <a:spcPts val="0"/>
                        </a:spcBef>
                        <a:spcAft>
                          <a:spcPts val="0"/>
                        </a:spcAft>
                        <a:buNone/>
                      </a:pPr>
                      <a:r>
                        <a:rPr lang="en" sz="2000" b="1">
                          <a:solidFill>
                            <a:schemeClr val="dk1"/>
                          </a:solidFill>
                          <a:highlight>
                            <a:srgbClr val="3483B7"/>
                          </a:highlight>
                          <a:latin typeface="Times New Roman"/>
                          <a:ea typeface="Times New Roman"/>
                          <a:cs typeface="Times New Roman"/>
                          <a:sym typeface="Times New Roman"/>
                        </a:rPr>
                        <a:t>KES 10,740</a:t>
                      </a:r>
                      <a:endParaRPr sz="2000" b="1">
                        <a:solidFill>
                          <a:schemeClr val="dk1"/>
                        </a:solidFill>
                        <a:highlight>
                          <a:srgbClr val="3483B7"/>
                        </a:highlight>
                        <a:latin typeface="Times New Roman"/>
                        <a:ea typeface="Times New Roman"/>
                        <a:cs typeface="Times New Roman"/>
                        <a:sym typeface="Times New Roman"/>
                      </a:endParaRPr>
                    </a:p>
                  </a:txBody>
                  <a:tcPr marL="9525" marR="9525" marT="9525" marB="9525">
                    <a:solidFill>
                      <a:srgbClr val="3483B7"/>
                    </a:solidFill>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extLst>
                  <a:ext uri="{0D108BD9-81ED-4DB2-BD59-A6C34878D82A}">
                    <a16:rowId xmlns:a16="http://schemas.microsoft.com/office/drawing/2014/main" val="10003"/>
                  </a:ext>
                </a:extLst>
              </a:tr>
            </a:tbl>
          </a:graphicData>
        </a:graphic>
      </p:graphicFrame>
      <p:sp>
        <p:nvSpPr>
          <p:cNvPr id="324" name="Google Shape;324;p45"/>
          <p:cNvSpPr/>
          <p:nvPr/>
        </p:nvSpPr>
        <p:spPr>
          <a:xfrm>
            <a:off x="2256638" y="403750"/>
            <a:ext cx="4868400" cy="804000"/>
          </a:xfrm>
          <a:prstGeom prst="rect">
            <a:avLst/>
          </a:prstGeom>
          <a:solidFill>
            <a:srgbClr val="3483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 name="Google Shape;325;p45"/>
          <p:cNvSpPr txBox="1"/>
          <p:nvPr/>
        </p:nvSpPr>
        <p:spPr>
          <a:xfrm>
            <a:off x="3115150" y="497950"/>
            <a:ext cx="30504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dk1"/>
                </a:solidFill>
                <a:latin typeface="Times New Roman"/>
                <a:ea typeface="Times New Roman"/>
                <a:cs typeface="Times New Roman"/>
                <a:sym typeface="Times New Roman"/>
              </a:rPr>
              <a:t>Estimated budget</a:t>
            </a:r>
            <a:endParaRPr sz="2800" b="1">
              <a:solidFill>
                <a:schemeClr val="dk1"/>
              </a:solidFill>
              <a:latin typeface="Times New Roman"/>
              <a:ea typeface="Times New Roman"/>
              <a:cs typeface="Times New Roman"/>
              <a:sym typeface="Times New Roman"/>
            </a:endParaRPr>
          </a:p>
        </p:txBody>
      </p:sp>
      <p:pic>
        <p:nvPicPr>
          <p:cNvPr id="326" name="Google Shape;326;p45"/>
          <p:cNvPicPr preferRelativeResize="0"/>
          <p:nvPr/>
        </p:nvPicPr>
        <p:blipFill>
          <a:blip r:embed="rId3">
            <a:alphaModFix/>
          </a:blip>
          <a:stretch>
            <a:fillRect/>
          </a:stretch>
        </p:blipFill>
        <p:spPr>
          <a:xfrm>
            <a:off x="2409912" y="497950"/>
            <a:ext cx="615600" cy="615600"/>
          </a:xfrm>
          <a:prstGeom prst="rect">
            <a:avLst/>
          </a:prstGeom>
          <a:noFill/>
          <a:ln>
            <a:noFill/>
          </a:ln>
        </p:spPr>
      </p:pic>
      <p:sp>
        <p:nvSpPr>
          <p:cNvPr id="327" name="Google Shape;327;p45"/>
          <p:cNvSpPr/>
          <p:nvPr/>
        </p:nvSpPr>
        <p:spPr>
          <a:xfrm>
            <a:off x="0" y="88375"/>
            <a:ext cx="182100" cy="206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3483B7"/>
        </a:solidFill>
        <a:effectLst/>
      </p:bgPr>
    </p:bg>
    <p:spTree>
      <p:nvGrpSpPr>
        <p:cNvPr id="1" name="Shape 331"/>
        <p:cNvGrpSpPr/>
        <p:nvPr/>
      </p:nvGrpSpPr>
      <p:grpSpPr>
        <a:xfrm>
          <a:off x="0" y="0"/>
          <a:ext cx="0" cy="0"/>
          <a:chOff x="0" y="0"/>
          <a:chExt cx="0" cy="0"/>
        </a:xfrm>
      </p:grpSpPr>
      <p:pic>
        <p:nvPicPr>
          <p:cNvPr id="332" name="Google Shape;332;p46"/>
          <p:cNvPicPr preferRelativeResize="0"/>
          <p:nvPr/>
        </p:nvPicPr>
        <p:blipFill rotWithShape="1">
          <a:blip r:embed="rId3">
            <a:alphaModFix/>
          </a:blip>
          <a:srcRect l="16275" r="16275"/>
          <a:stretch/>
        </p:blipFill>
        <p:spPr>
          <a:xfrm>
            <a:off x="3475350" y="0"/>
            <a:ext cx="5668649" cy="5143500"/>
          </a:xfrm>
          <a:prstGeom prst="rect">
            <a:avLst/>
          </a:prstGeom>
          <a:noFill/>
          <a:ln>
            <a:noFill/>
          </a:ln>
        </p:spPr>
      </p:pic>
      <p:sp>
        <p:nvSpPr>
          <p:cNvPr id="333" name="Google Shape;333;p46"/>
          <p:cNvSpPr txBox="1"/>
          <p:nvPr/>
        </p:nvSpPr>
        <p:spPr>
          <a:xfrm>
            <a:off x="0" y="1181825"/>
            <a:ext cx="3475500" cy="249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b="1">
                <a:solidFill>
                  <a:schemeClr val="dk1"/>
                </a:solidFill>
                <a:latin typeface="Times New Roman"/>
                <a:ea typeface="Times New Roman"/>
                <a:cs typeface="Times New Roman"/>
                <a:sym typeface="Times New Roman"/>
              </a:rPr>
              <a:t>Remotely Operated Vehicles</a:t>
            </a:r>
            <a:endParaRPr sz="5000" b="1">
              <a:solidFill>
                <a:schemeClr val="dk1"/>
              </a:solidFill>
              <a:latin typeface="Times New Roman"/>
              <a:ea typeface="Times New Roman"/>
              <a:cs typeface="Times New Roman"/>
              <a:sym typeface="Times New Roman"/>
            </a:endParaRPr>
          </a:p>
        </p:txBody>
      </p:sp>
      <p:sp>
        <p:nvSpPr>
          <p:cNvPr id="334" name="Google Shape;334;p46"/>
          <p:cNvSpPr txBox="1"/>
          <p:nvPr/>
        </p:nvSpPr>
        <p:spPr>
          <a:xfrm>
            <a:off x="61850" y="3675425"/>
            <a:ext cx="3475500" cy="96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Times New Roman"/>
                <a:ea typeface="Times New Roman"/>
                <a:cs typeface="Times New Roman"/>
                <a:sym typeface="Times New Roman"/>
              </a:rPr>
              <a:t>Presented by:</a:t>
            </a:r>
            <a:endParaRPr sz="1600">
              <a:solidFill>
                <a:schemeClr val="dk1"/>
              </a:solidFill>
              <a:latin typeface="Times New Roman"/>
              <a:ea typeface="Times New Roman"/>
              <a:cs typeface="Times New Roman"/>
              <a:sym typeface="Times New Roman"/>
            </a:endParaRPr>
          </a:p>
          <a:p>
            <a:pPr marL="457200" lvl="0" indent="-330200" algn="l" rtl="0">
              <a:lnSpc>
                <a:spcPct val="115000"/>
              </a:lnSpc>
              <a:spcBef>
                <a:spcPts val="0"/>
              </a:spcBef>
              <a:spcAft>
                <a:spcPts val="0"/>
              </a:spcAft>
              <a:buClr>
                <a:srgbClr val="FFFCF0"/>
              </a:buClr>
              <a:buSzPts val="1600"/>
              <a:buFont typeface="Times New Roman"/>
              <a:buChar char="●"/>
            </a:pPr>
            <a:r>
              <a:rPr lang="en" sz="1600">
                <a:solidFill>
                  <a:srgbClr val="FFFCF0"/>
                </a:solidFill>
                <a:latin typeface="Times New Roman"/>
                <a:ea typeface="Times New Roman"/>
                <a:cs typeface="Times New Roman"/>
                <a:sym typeface="Times New Roman"/>
              </a:rPr>
              <a:t>PEGGYOLANDA NYAMBURA</a:t>
            </a:r>
            <a:endParaRPr sz="1600">
              <a:solidFill>
                <a:srgbClr val="FFFCF0"/>
              </a:solidFill>
              <a:latin typeface="Times New Roman"/>
              <a:ea typeface="Times New Roman"/>
              <a:cs typeface="Times New Roman"/>
              <a:sym typeface="Times New Roman"/>
            </a:endParaRPr>
          </a:p>
          <a:p>
            <a:pPr marL="457200" lvl="0" indent="-330200" algn="l" rtl="0">
              <a:lnSpc>
                <a:spcPct val="115000"/>
              </a:lnSpc>
              <a:spcBef>
                <a:spcPts val="0"/>
              </a:spcBef>
              <a:spcAft>
                <a:spcPts val="0"/>
              </a:spcAft>
              <a:buClr>
                <a:srgbClr val="FFFCF0"/>
              </a:buClr>
              <a:buSzPts val="1600"/>
              <a:buFont typeface="Times New Roman"/>
              <a:buChar char="●"/>
            </a:pPr>
            <a:r>
              <a:rPr lang="en" sz="1600">
                <a:solidFill>
                  <a:srgbClr val="FFFCF0"/>
                </a:solidFill>
                <a:latin typeface="Times New Roman"/>
                <a:ea typeface="Times New Roman"/>
                <a:cs typeface="Times New Roman"/>
                <a:sym typeface="Times New Roman"/>
              </a:rPr>
              <a:t>DENNIS SAMMY</a:t>
            </a:r>
            <a:endParaRPr sz="1600">
              <a:solidFill>
                <a:srgbClr val="FFFCF0"/>
              </a:solidFill>
              <a:latin typeface="Times New Roman"/>
              <a:ea typeface="Times New Roman"/>
              <a:cs typeface="Times New Roman"/>
              <a:sym typeface="Times New Roman"/>
            </a:endParaRPr>
          </a:p>
        </p:txBody>
      </p:sp>
      <p:sp>
        <p:nvSpPr>
          <p:cNvPr id="335" name="Google Shape;335;p46"/>
          <p:cNvSpPr txBox="1"/>
          <p:nvPr/>
        </p:nvSpPr>
        <p:spPr>
          <a:xfrm>
            <a:off x="8051225" y="4630375"/>
            <a:ext cx="830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Comfortaa"/>
                <a:ea typeface="Comfortaa"/>
                <a:cs typeface="Comfortaa"/>
                <a:sym typeface="Comfortaa"/>
              </a:rPr>
              <a:t>@2023</a:t>
            </a:r>
            <a:endParaRPr sz="1200">
              <a:solidFill>
                <a:schemeClr val="dk1"/>
              </a:solidFill>
              <a:latin typeface="Comfortaa"/>
              <a:ea typeface="Comfortaa"/>
              <a:cs typeface="Comfortaa"/>
              <a:sym typeface="Comfortaa"/>
            </a:endParaRPr>
          </a:p>
        </p:txBody>
      </p:sp>
    </p:spTree>
  </p:cSld>
  <p:clrMapOvr>
    <a:masterClrMapping/>
  </p:clrMapOvr>
  <mc:AlternateContent xmlns:mc="http://schemas.openxmlformats.org/markup-compatibility/2006" xmlns:p14="http://schemas.microsoft.com/office/powerpoint/2010/main">
    <mc:Choice Requires="p14">
      <p:transition spd="slow" p14:dur="20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33"/>
                                        </p:tgtEl>
                                        <p:attrNameLst>
                                          <p:attrName>style.visibility</p:attrName>
                                        </p:attrNameLst>
                                      </p:cBhvr>
                                      <p:to>
                                        <p:strVal val="visible"/>
                                      </p:to>
                                    </p:set>
                                    <p:anim calcmode="lin" valueType="num">
                                      <p:cBhvr additive="base">
                                        <p:cTn id="7" dur="400"/>
                                        <p:tgtEl>
                                          <p:spTgt spid="333"/>
                                        </p:tgtEl>
                                        <p:attrNameLst>
                                          <p:attrName>ppt_w</p:attrName>
                                        </p:attrNameLst>
                                      </p:cBhvr>
                                      <p:tavLst>
                                        <p:tav tm="0">
                                          <p:val>
                                            <p:strVal val="0"/>
                                          </p:val>
                                        </p:tav>
                                        <p:tav tm="100000">
                                          <p:val>
                                            <p:strVal val="#ppt_w"/>
                                          </p:val>
                                        </p:tav>
                                      </p:tavLst>
                                    </p:anim>
                                    <p:anim calcmode="lin" valueType="num">
                                      <p:cBhvr additive="base">
                                        <p:cTn id="8" dur="400"/>
                                        <p:tgtEl>
                                          <p:spTgt spid="333"/>
                                        </p:tgtEl>
                                        <p:attrNameLst>
                                          <p:attrName>ppt_h</p:attrName>
                                        </p:attrNameLst>
                                      </p:cBhvr>
                                      <p:tavLst>
                                        <p:tav tm="0">
                                          <p:val>
                                            <p:strVal val="0"/>
                                          </p:val>
                                        </p:tav>
                                        <p:tav tm="100000">
                                          <p:val>
                                            <p:strVal val="#ppt_h"/>
                                          </p:val>
                                        </p:tav>
                                      </p:tavLst>
                                    </p:anim>
                                  </p:childTnLst>
                                </p:cTn>
                              </p:par>
                            </p:childTnLst>
                          </p:cTn>
                        </p:par>
                        <p:par>
                          <p:cTn id="9" fill="hold">
                            <p:stCondLst>
                              <p:cond delay="400"/>
                            </p:stCondLst>
                            <p:childTnLst>
                              <p:par>
                                <p:cTn id="10" presetID="10" presetClass="entr" presetSubtype="0" fill="hold" nodeType="afterEffect">
                                  <p:stCondLst>
                                    <p:cond delay="0"/>
                                  </p:stCondLst>
                                  <p:childTnLst>
                                    <p:set>
                                      <p:cBhvr>
                                        <p:cTn id="11" dur="1" fill="hold">
                                          <p:stCondLst>
                                            <p:cond delay="0"/>
                                          </p:stCondLst>
                                        </p:cTn>
                                        <p:tgtEl>
                                          <p:spTgt spid="332"/>
                                        </p:tgtEl>
                                        <p:attrNameLst>
                                          <p:attrName>style.visibility</p:attrName>
                                        </p:attrNameLst>
                                      </p:cBhvr>
                                      <p:to>
                                        <p:strVal val="visible"/>
                                      </p:to>
                                    </p:set>
                                    <p:animEffect transition="in" filter="fade">
                                      <p:cBhvr>
                                        <p:cTn id="12" dur="800"/>
                                        <p:tgtEl>
                                          <p:spTgt spid="332"/>
                                        </p:tgtEl>
                                      </p:cBhvr>
                                    </p:animEffect>
                                  </p:childTnLst>
                                </p:cTn>
                              </p:par>
                            </p:childTnLst>
                          </p:cTn>
                        </p:par>
                        <p:par>
                          <p:cTn id="13" fill="hold">
                            <p:stCondLst>
                              <p:cond delay="1200"/>
                            </p:stCondLst>
                            <p:childTnLst>
                              <p:par>
                                <p:cTn id="14" presetID="2" presetClass="entr" presetSubtype="4" fill="hold" nodeType="afterEffect">
                                  <p:stCondLst>
                                    <p:cond delay="0"/>
                                  </p:stCondLst>
                                  <p:childTnLst>
                                    <p:set>
                                      <p:cBhvr>
                                        <p:cTn id="15" dur="1" fill="hold">
                                          <p:stCondLst>
                                            <p:cond delay="0"/>
                                          </p:stCondLst>
                                        </p:cTn>
                                        <p:tgtEl>
                                          <p:spTgt spid="334"/>
                                        </p:tgtEl>
                                        <p:attrNameLst>
                                          <p:attrName>style.visibility</p:attrName>
                                        </p:attrNameLst>
                                      </p:cBhvr>
                                      <p:to>
                                        <p:strVal val="visible"/>
                                      </p:to>
                                    </p:set>
                                    <p:anim calcmode="lin" valueType="num">
                                      <p:cBhvr additive="base">
                                        <p:cTn id="16" dur="900"/>
                                        <p:tgtEl>
                                          <p:spTgt spid="3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9"/>
        <p:cNvGrpSpPr/>
        <p:nvPr/>
      </p:nvGrpSpPr>
      <p:grpSpPr>
        <a:xfrm>
          <a:off x="0" y="0"/>
          <a:ext cx="0" cy="0"/>
          <a:chOff x="0" y="0"/>
          <a:chExt cx="0" cy="0"/>
        </a:xfrm>
      </p:grpSpPr>
      <p:pic>
        <p:nvPicPr>
          <p:cNvPr id="340" name="Google Shape;340;p47" title="Recording 2024-07-26 095136.mp4">
            <a:hlinkClick r:id="rId4"/>
          </p:cNvPr>
          <p:cNvPicPr preferRelativeResize="0"/>
          <p:nvPr/>
        </p:nvPicPr>
        <p:blipFill>
          <a:blip r:embed="rId5">
            <a:alphaModFix/>
          </a:blip>
          <a:stretch>
            <a:fillRect/>
          </a:stretch>
        </p:blipFill>
        <p:spPr>
          <a:xfrm>
            <a:off x="1085225" y="132175"/>
            <a:ext cx="6973549" cy="4879150"/>
          </a:xfrm>
          <a:prstGeom prst="rect">
            <a:avLst/>
          </a:prstGeom>
          <a:noFill/>
          <a:ln>
            <a:noFill/>
          </a:ln>
        </p:spPr>
      </p:pic>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1387</Words>
  <Application>Microsoft Office PowerPoint</Application>
  <PresentationFormat>On-screen Show (16:9)</PresentationFormat>
  <Paragraphs>217</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Times New Roman</vt:lpstr>
      <vt:lpstr>Georgia</vt:lpstr>
      <vt:lpstr>Arial</vt:lpstr>
      <vt:lpstr>Trebuchet MS</vt:lpstr>
      <vt:lpstr>Comfortaa</vt:lpstr>
      <vt:lpstr>Simple 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Peggy Yolanda</cp:lastModifiedBy>
  <cp:revision>2</cp:revision>
  <dcterms:modified xsi:type="dcterms:W3CDTF">2024-08-08T08:04:43Z</dcterms:modified>
</cp:coreProperties>
</file>